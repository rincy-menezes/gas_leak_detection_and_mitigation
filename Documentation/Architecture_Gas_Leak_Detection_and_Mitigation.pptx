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348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731520"/>
            <a:ext cx="6949440" cy="3657600"/>
          </a:xfrm>
          <a:prstGeom prst="rect">
            <a:avLst/>
          </a:prstGeom>
          <a:solidFill>
            <a:srgbClr val="161B2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80160" y="9144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IoT-DRIVEN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38988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280160" y="19933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Multi-Layered Automated Protection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86000" y="2487168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606040"/>
            <a:ext cx="1188720" cy="594360"/>
          </a:xfrm>
          <a:prstGeom prst="roundRect">
            <a:avLst>
              <a:gd name="adj" fmla="val 9231"/>
            </a:avLst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633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2852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15184" y="2606040"/>
            <a:ext cx="1188720" cy="594360"/>
          </a:xfrm>
          <a:prstGeom prst="roundRect">
            <a:avLst>
              <a:gd name="adj" fmla="val 9231"/>
            </a:avLst>
          </a:prstGeom>
          <a:solidFill>
            <a:srgbClr val="4A3A9A"/>
          </a:solidFill>
          <a:ln w="12700">
            <a:solidFill>
              <a:srgbClr val="4A3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2633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15184" y="2852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50208" y="2606040"/>
            <a:ext cx="1188720" cy="594360"/>
          </a:xfrm>
          <a:prstGeom prst="roundRect">
            <a:avLst>
              <a:gd name="adj" fmla="val 9231"/>
            </a:avLst>
          </a:prstGeom>
          <a:solidFill>
            <a:srgbClr val="9A3A2A"/>
          </a:solidFill>
          <a:ln w="12700">
            <a:solidFill>
              <a:srgbClr val="9A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2633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50208" y="2852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85232" y="2606040"/>
            <a:ext cx="1188720" cy="594360"/>
          </a:xfrm>
          <a:prstGeom prst="roundRect">
            <a:avLst>
              <a:gd name="adj" fmla="val 9231"/>
            </a:avLst>
          </a:prstGeom>
          <a:solidFill>
            <a:srgbClr val="4A7A2A"/>
          </a:solidFill>
          <a:ln w="12700">
            <a:solidFill>
              <a:srgbClr val="4A7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633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85232" y="2852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0256" y="2606040"/>
            <a:ext cx="1188720" cy="594360"/>
          </a:xfrm>
          <a:prstGeom prst="roundRect">
            <a:avLst>
              <a:gd name="adj" fmla="val 9231"/>
            </a:avLst>
          </a:prstGeom>
          <a:solidFill>
            <a:srgbClr val="3A6A7A"/>
          </a:solidFill>
          <a:ln w="12700">
            <a:solidFill>
              <a:srgbClr val="3A6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0256" y="2633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20256" y="2852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36499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MQ-2/MQ-6  ·  ESP32  ·  LM35  ·  Solenoid Valve  ·  Buzzer  ·  Exhaust Fan  ·  GSM Module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37033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·  5-Layer Design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5E6E"/>
          </a:solidFill>
          <a:ln w="12700">
            <a:solidFill>
              <a:srgbClr val="1B5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777240" cy="777240"/>
          </a:xfrm>
          <a:prstGeom prst="ellipse">
            <a:avLst/>
          </a:prstGeom>
          <a:solidFill>
            <a:srgbClr val="000000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—  Sensing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environment monitoring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" y="1417320"/>
            <a:ext cx="3474720" cy="2606040"/>
          </a:xfrm>
          <a:prstGeom prst="rect">
            <a:avLst/>
          </a:prstGeom>
          <a:solidFill>
            <a:srgbClr val="0F2A3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96696" y="1417320"/>
            <a:ext cx="34747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/ MQ-6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79576" y="2258568"/>
            <a:ext cx="31089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350008"/>
            <a:ext cx="31455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LPG, propane, methane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output → ADC on ESP32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PPM threshold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1417320"/>
            <a:ext cx="3474720" cy="2606040"/>
          </a:xfrm>
          <a:prstGeom prst="rect">
            <a:avLst/>
          </a:prstGeom>
          <a:solidFill>
            <a:srgbClr val="2A1E0A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417320"/>
            <a:ext cx="34747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LM35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9744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55464" y="2258568"/>
            <a:ext cx="31089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350008"/>
            <a:ext cx="31455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analog temp sensor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mV/°C output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calibration needed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ESP32 ADC directly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3A2A7A"/>
          </a:solidFill>
          <a:ln w="12700">
            <a:solidFill>
              <a:srgbClr val="3A2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777240" cy="777240"/>
          </a:xfrm>
          <a:prstGeom prst="ellipse">
            <a:avLst/>
          </a:prstGeom>
          <a:solidFill>
            <a:srgbClr val="000000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—  Processing (ESP32)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Pre-ignition detection, threshold logic, decision making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417320"/>
            <a:ext cx="2560320" cy="2606040"/>
          </a:xfrm>
          <a:prstGeom prst="rect">
            <a:avLst/>
          </a:prstGeom>
          <a:solidFill>
            <a:srgbClr val="1A1030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417320"/>
            <a:ext cx="25603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/ Analog Read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Calculation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ADC on ESP32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MQ-2/MQ-6 &amp; LM35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voltage → PPM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at configurable interval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560320" cy="2606040"/>
          </a:xfrm>
          <a:prstGeom prst="rect">
            <a:avLst/>
          </a:prstGeom>
          <a:solidFill>
            <a:srgbClr val="1E1535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417320"/>
            <a:ext cx="256032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Comparator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+ Temp Logic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PPM limit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upper bound check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logic gate (AND/OR)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alert condition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1417320"/>
            <a:ext cx="2560320" cy="2606040"/>
          </a:xfrm>
          <a:prstGeom prst="rect">
            <a:avLst/>
          </a:prstGeom>
          <a:solidFill>
            <a:srgbClr val="221840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417320"/>
            <a:ext cx="2560320" cy="6400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State Machine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90488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ALERT → SAFE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6208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Three-state FSM on ESP32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IDLE: monitoring, no 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actuation + notify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post-clearance reset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intelligence runs entirely on-chip — no cloud dependency for actuation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A2A1A"/>
          </a:solidFill>
          <a:ln w="12700">
            <a:solidFill>
              <a:srgbClr val="7A2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777240" cy="777240"/>
          </a:xfrm>
          <a:prstGeom prst="ellipse">
            <a:avLst/>
          </a:prstGeom>
          <a:solidFill>
            <a:srgbClr val="000000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—  Actuation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protection — Automated physical responses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417320"/>
            <a:ext cx="2560320" cy="2606040"/>
          </a:xfrm>
          <a:prstGeom prst="rect">
            <a:avLst/>
          </a:prstGeom>
          <a:solidFill>
            <a:srgbClr val="2A0A0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417320"/>
            <a:ext cx="25603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Valve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Cutoff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Normally-closed (fail-safe)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logic: closes on trigger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Power-loss = valve closes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Relay-isolated from ESP32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560320" cy="2606040"/>
          </a:xfrm>
          <a:prstGeom prst="rect">
            <a:avLst/>
          </a:prstGeom>
          <a:solidFill>
            <a:srgbClr val="2A1000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417320"/>
            <a:ext cx="25603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Fan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on ALERT state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gas from enclosure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High-current motor via relay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Auto-off after clearance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1417320"/>
            <a:ext cx="2560320" cy="2606040"/>
          </a:xfrm>
          <a:prstGeom prst="rect">
            <a:avLst/>
          </a:prstGeom>
          <a:solidFill>
            <a:srgbClr val="2A1E0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417320"/>
            <a:ext cx="256032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90488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Alarm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6208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buzzer on GPIO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alert to occupants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pattern on ALERT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Silences on SAFE state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3A5A1A"/>
          </a:solidFill>
          <a:ln w="12700">
            <a:solidFill>
              <a:srgbClr val="3A5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777240" cy="777240"/>
          </a:xfrm>
          <a:prstGeom prst="ellipse">
            <a:avLst/>
          </a:prstGeom>
          <a:solidFill>
            <a:srgbClr val="000000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 —  Communication &amp; Alert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notification and connectivity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" y="1417320"/>
            <a:ext cx="3474720" cy="2606040"/>
          </a:xfrm>
          <a:prstGeom prst="rect">
            <a:avLst/>
          </a:prstGeom>
          <a:solidFill>
            <a:srgbClr val="0A1E0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96696" y="1417320"/>
            <a:ext cx="34747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Module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 / SIM900  —  SMS Alert to User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79576" y="2258568"/>
            <a:ext cx="31089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350008"/>
            <a:ext cx="31455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 to registered number on ALERT state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 or Wi-Fi connection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command interface via UART on ESP32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power supply recommended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recipient list in firmware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1417320"/>
            <a:ext cx="3474720" cy="2606040"/>
          </a:xfrm>
          <a:prstGeom prst="rect">
            <a:avLst/>
          </a:prstGeom>
          <a:solidFill>
            <a:srgbClr val="0F2A18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417320"/>
            <a:ext cx="34747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Coverage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9744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GSM Only?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55464" y="2258568"/>
            <a:ext cx="31089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350008"/>
            <a:ext cx="31455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network — no local infrastructure needed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in power outage scenarios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SIM800/900 widely available &amp; low cost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life-safety notification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&amp; Telegram excluded from this build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A4A5A"/>
          </a:solidFill>
          <a:ln w="12700">
            <a:solidFill>
              <a:srgbClr val="2A4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777240" cy="777240"/>
          </a:xfrm>
          <a:prstGeom prst="ellipse">
            <a:avLst/>
          </a:prstGeom>
          <a:solidFill>
            <a:srgbClr val="000000">
              <a:alpha val="3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 —  Recovery &amp; Safety Reset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 to safe state after gas clearance is confirmed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417320"/>
            <a:ext cx="2560320" cy="2606040"/>
          </a:xfrm>
          <a:prstGeom prst="rect">
            <a:avLst/>
          </a:prstGeom>
          <a:solidFill>
            <a:srgbClr val="0A1E2A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417320"/>
            <a:ext cx="25603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Level Polling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PPM monitoring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against safe threshold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sustained, not transient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recovery sequence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560320" cy="2606040"/>
          </a:xfrm>
          <a:prstGeom prst="rect">
            <a:avLst/>
          </a:prstGeom>
          <a:solidFill>
            <a:srgbClr val="0A1C28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417320"/>
            <a:ext cx="25603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Re-Open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Reset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must physically confirm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re-open after alert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premature gas restore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/ switch input on ESP32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1417320"/>
            <a:ext cx="2560320" cy="2606040"/>
          </a:xfrm>
          <a:prstGeom prst="rect">
            <a:avLst/>
          </a:prstGeom>
          <a:solidFill>
            <a:srgbClr val="0C1E2E"/>
          </a:solidFill>
          <a:ln w="19050">
            <a:solidFill>
              <a:srgbClr val="7DD3F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417320"/>
            <a:ext cx="2560320" cy="6400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Auto-Off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90488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Confirmed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6208" y="2258568"/>
            <a:ext cx="21945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350008"/>
            <a:ext cx="22311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stops after PPM drops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— no manual 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logged in FSM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transitions to SAFE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constraints: Entire circuit insulated — no exposed sparks near gas. Solenoid uses inverse logic (fail-safe: closed on power loss). 3.3 V / 5 V separation via relay isolation.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484</Words>
  <Application>Microsoft Office PowerPoint</Application>
  <PresentationFormat>On-screen Show (16:9)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IoT-Driven Gas Leak Detection with Multi-Layered Automated Protection</dc:title>
  <dc:subject>PptxGenJS Presentation</dc:subject>
  <dc:creator>PptxGenJS</dc:creator>
  <cp:lastModifiedBy>R M</cp:lastModifiedBy>
  <cp:revision>3</cp:revision>
  <dcterms:created xsi:type="dcterms:W3CDTF">2026-04-07T08:28:50Z</dcterms:created>
  <dcterms:modified xsi:type="dcterms:W3CDTF">2026-04-07T09:40:01Z</dcterms:modified>
</cp:coreProperties>
</file>