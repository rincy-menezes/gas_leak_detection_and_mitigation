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9066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766560" y="-914400"/>
            <a:ext cx="4114800" cy="4114800"/>
          </a:xfrm>
          <a:prstGeom prst="ellipse">
            <a:avLst/>
          </a:prstGeom>
          <a:solidFill>
            <a:srgbClr val="0D9488">
              <a:alpha val="12000"/>
            </a:srgbClr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2926080"/>
            <a:ext cx="2377440" cy="2377440"/>
          </a:xfrm>
          <a:prstGeom prst="ellipse">
            <a:avLst/>
          </a:prstGeom>
          <a:solidFill>
            <a:srgbClr val="0D9488">
              <a:alpha val="9000"/>
            </a:srgbClr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60120"/>
            <a:ext cx="2560320" cy="3108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444752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Intelligent IoT-Driven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5760" y="2029968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ECFAF"/>
                </a:solidFill>
              </a:rPr>
              <a:t>Gas Leak Detection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265176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AACB8"/>
                </a:solidFill>
              </a:rPr>
              <a:t>with Multi-Layered Automated Protection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3154680"/>
            <a:ext cx="5486400" cy="320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3337560"/>
            <a:ext cx="5029200" cy="731520"/>
          </a:xfrm>
          <a:prstGeom prst="rect">
            <a:avLst/>
          </a:prstGeom>
          <a:solidFill>
            <a:srgbClr val="0A5540"/>
          </a:solidFill>
          <a:ln/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3337560"/>
            <a:ext cx="73152" cy="731520"/>
          </a:xfrm>
          <a:prstGeom prst="rect">
            <a:avLst/>
          </a:prstGeom>
          <a:solidFill>
            <a:srgbClr val="3ECFA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3756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Bill of Materials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8640" y="367588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D4CA"/>
                </a:solidFill>
              </a:rPr>
              <a:t>Components, Models &amp; Cost Breakdown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0" y="3364992"/>
            <a:ext cx="676656" cy="67665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0" y="336499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9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650992" y="4059936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ACB8"/>
                </a:solidFill>
              </a:rPr>
              <a:t>components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02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91440"/>
            <a:ext cx="5486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Bill of Materials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8600" y="566928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Intelligent IoT-Driven Gas Leak Detection with Multi-Layered Automated Protection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1143000"/>
            <a:ext cx="502920" cy="352044"/>
          </a:xfrm>
          <a:prstGeom prst="rect">
            <a:avLst/>
          </a:prstGeom>
          <a:solidFill>
            <a:srgbClr val="0A5540"/>
          </a:solidFill>
          <a:ln/>
        </p:spPr>
      </p:sp>
      <p:sp>
        <p:nvSpPr>
          <p:cNvPr id="8" name="Text 6"/>
          <p:cNvSpPr/>
          <p:nvPr/>
        </p:nvSpPr>
        <p:spPr>
          <a:xfrm>
            <a:off x="283464" y="1143000"/>
            <a:ext cx="41148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1143000"/>
            <a:ext cx="2834640" cy="352044"/>
          </a:xfrm>
          <a:prstGeom prst="rect">
            <a:avLst/>
          </a:prstGeom>
          <a:solidFill>
            <a:srgbClr val="0A5540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1143000"/>
            <a:ext cx="274320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Component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66160" y="1143000"/>
            <a:ext cx="1920240" cy="352044"/>
          </a:xfrm>
          <a:prstGeom prst="rect">
            <a:avLst/>
          </a:prstGeom>
          <a:solidFill>
            <a:srgbClr val="0A5540"/>
          </a:solidFill>
          <a:ln/>
        </p:spPr>
      </p:sp>
      <p:sp>
        <p:nvSpPr>
          <p:cNvPr id="12" name="Text 10"/>
          <p:cNvSpPr/>
          <p:nvPr/>
        </p:nvSpPr>
        <p:spPr>
          <a:xfrm>
            <a:off x="3621024" y="1143000"/>
            <a:ext cx="182880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Cost (₹)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0" y="1143000"/>
            <a:ext cx="1417320" cy="352044"/>
          </a:xfrm>
          <a:prstGeom prst="rect">
            <a:avLst/>
          </a:prstGeom>
          <a:solidFill>
            <a:srgbClr val="0A5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541264" y="1143000"/>
            <a:ext cx="132588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03720" y="1143000"/>
            <a:ext cx="1920240" cy="352044"/>
          </a:xfrm>
          <a:prstGeom prst="rect">
            <a:avLst/>
          </a:prstGeom>
          <a:solidFill>
            <a:srgbClr val="0A5540"/>
          </a:solidFill>
          <a:ln/>
        </p:spPr>
      </p:sp>
      <p:sp>
        <p:nvSpPr>
          <p:cNvPr id="16" name="Text 14"/>
          <p:cNvSpPr/>
          <p:nvPr/>
        </p:nvSpPr>
        <p:spPr>
          <a:xfrm>
            <a:off x="6958584" y="1143000"/>
            <a:ext cx="182880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Description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1495044"/>
            <a:ext cx="502920" cy="352044"/>
          </a:xfrm>
          <a:prstGeom prst="rect">
            <a:avLst/>
          </a:prstGeom>
          <a:solidFill>
            <a:srgbClr val="FFFFFF"/>
          </a:solidFill>
          <a:ln w="3810">
            <a:solidFill>
              <a:srgbClr val="D1E8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1586484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15864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31520" y="1495044"/>
            <a:ext cx="2834640" cy="352044"/>
          </a:xfrm>
          <a:prstGeom prst="rect">
            <a:avLst/>
          </a:prstGeom>
          <a:solidFill>
            <a:srgbClr val="FFFFFF"/>
          </a:solidFill>
          <a:ln w="3810">
            <a:solidFill>
              <a:srgbClr val="D1E8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1495044"/>
            <a:ext cx="269748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A1A"/>
                </a:solidFill>
              </a:rPr>
              <a:t>ESP32 Microcontroller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566160" y="1495044"/>
            <a:ext cx="1920240" cy="352044"/>
          </a:xfrm>
          <a:prstGeom prst="rect">
            <a:avLst/>
          </a:prstGeom>
          <a:solidFill>
            <a:srgbClr val="FFFFFF"/>
          </a:solidFill>
          <a:ln w="3810">
            <a:solidFill>
              <a:srgbClr val="D1E8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39312" y="1495044"/>
            <a:ext cx="1810512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5540"/>
                </a:solidFill>
              </a:rPr>
              <a:t>₹ 89.84 / piece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0" y="1495044"/>
            <a:ext cx="1417320" cy="352044"/>
          </a:xfrm>
          <a:prstGeom prst="rect">
            <a:avLst/>
          </a:prstGeom>
          <a:solidFill>
            <a:srgbClr val="FFFFFF"/>
          </a:solidFill>
          <a:ln w="3810">
            <a:solidFill>
              <a:srgbClr val="D1E8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59552" y="1495044"/>
            <a:ext cx="1307592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ESP 32-C3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903720" y="1495044"/>
            <a:ext cx="1920240" cy="352044"/>
          </a:xfrm>
          <a:prstGeom prst="rect">
            <a:avLst/>
          </a:prstGeom>
          <a:solidFill>
            <a:srgbClr val="FFFFFF"/>
          </a:solidFill>
          <a:ln w="3810">
            <a:solidFill>
              <a:srgbClr val="D1E8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76872" y="1495044"/>
            <a:ext cx="1810512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Main controller — brain of system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31520" y="1495044"/>
            <a:ext cx="36576" cy="352044"/>
          </a:xfrm>
          <a:prstGeom prst="rect">
            <a:avLst/>
          </a:prstGeom>
          <a:solidFill>
            <a:srgbClr val="0D9488">
              <a:alpha val="7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28600" y="1847088"/>
            <a:ext cx="502920" cy="352044"/>
          </a:xfrm>
          <a:prstGeom prst="rect">
            <a:avLst/>
          </a:prstGeom>
          <a:solidFill>
            <a:srgbClr val="EDF7F5"/>
          </a:solidFill>
          <a:ln w="3810">
            <a:solidFill>
              <a:srgbClr val="D1E8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1938528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" y="19385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1520" y="1847088"/>
            <a:ext cx="2834640" cy="352044"/>
          </a:xfrm>
          <a:prstGeom prst="rect">
            <a:avLst/>
          </a:prstGeom>
          <a:solidFill>
            <a:srgbClr val="EDF7F5"/>
          </a:solidFill>
          <a:ln w="3810">
            <a:solidFill>
              <a:srgbClr val="D1E8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1847088"/>
            <a:ext cx="269748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A1A"/>
                </a:solidFill>
              </a:rPr>
              <a:t>MQ-6 Gas Sensor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566160" y="1847088"/>
            <a:ext cx="1920240" cy="352044"/>
          </a:xfrm>
          <a:prstGeom prst="rect">
            <a:avLst/>
          </a:prstGeom>
          <a:solidFill>
            <a:srgbClr val="EDF7F5"/>
          </a:solidFill>
          <a:ln w="3810">
            <a:solidFill>
              <a:srgbClr val="D1E8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39312" y="1847088"/>
            <a:ext cx="1810512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5540"/>
                </a:solidFill>
              </a:rPr>
              <a:t>₹ 619.90 / piece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0" y="1847088"/>
            <a:ext cx="1417320" cy="352044"/>
          </a:xfrm>
          <a:prstGeom prst="rect">
            <a:avLst/>
          </a:prstGeom>
          <a:solidFill>
            <a:srgbClr val="EDF7F5"/>
          </a:solidFill>
          <a:ln w="3810">
            <a:solidFill>
              <a:srgbClr val="D1E8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59552" y="1847088"/>
            <a:ext cx="1307592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SEN0131 DFR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903720" y="1847088"/>
            <a:ext cx="1920240" cy="352044"/>
          </a:xfrm>
          <a:prstGeom prst="rect">
            <a:avLst/>
          </a:prstGeom>
          <a:solidFill>
            <a:srgbClr val="EDF7F5"/>
          </a:solidFill>
          <a:ln w="3810">
            <a:solidFill>
              <a:srgbClr val="D1E8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76872" y="1847088"/>
            <a:ext cx="1810512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Detects LPG, propane &amp; smoke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31520" y="1847088"/>
            <a:ext cx="36576" cy="352044"/>
          </a:xfrm>
          <a:prstGeom prst="rect">
            <a:avLst/>
          </a:prstGeom>
          <a:solidFill>
            <a:srgbClr val="3ECFAF">
              <a:alpha val="7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228600" y="2199132"/>
            <a:ext cx="502920" cy="352044"/>
          </a:xfrm>
          <a:prstGeom prst="rect">
            <a:avLst/>
          </a:prstGeom>
          <a:solidFill>
            <a:srgbClr val="FFFFFF"/>
          </a:solidFill>
          <a:ln w="3810">
            <a:solidFill>
              <a:srgbClr val="D1E8E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" y="2290572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3" name="Text 41"/>
          <p:cNvSpPr/>
          <p:nvPr/>
        </p:nvSpPr>
        <p:spPr>
          <a:xfrm>
            <a:off x="320040" y="22905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31520" y="2199132"/>
            <a:ext cx="2834640" cy="352044"/>
          </a:xfrm>
          <a:prstGeom prst="rect">
            <a:avLst/>
          </a:prstGeom>
          <a:solidFill>
            <a:srgbClr val="FFFFFF"/>
          </a:solidFill>
          <a:ln w="3810">
            <a:solidFill>
              <a:srgbClr val="D1E8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2960" y="2199132"/>
            <a:ext cx="269748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A1A"/>
                </a:solidFill>
              </a:rPr>
              <a:t>Temperature Sensor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566160" y="2199132"/>
            <a:ext cx="1920240" cy="352044"/>
          </a:xfrm>
          <a:prstGeom prst="rect">
            <a:avLst/>
          </a:prstGeom>
          <a:solidFill>
            <a:srgbClr val="FFFFFF"/>
          </a:solidFill>
          <a:ln w="3810">
            <a:solidFill>
              <a:srgbClr val="D1E8E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39312" y="2199132"/>
            <a:ext cx="1810512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5540"/>
                </a:solidFill>
              </a:rPr>
              <a:t>₹ 150–620 / piece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486400" y="2199132"/>
            <a:ext cx="1417320" cy="352044"/>
          </a:xfrm>
          <a:prstGeom prst="rect">
            <a:avLst/>
          </a:prstGeom>
          <a:solidFill>
            <a:srgbClr val="FFFFFF"/>
          </a:solidFill>
          <a:ln w="3810">
            <a:solidFill>
              <a:srgbClr val="D1E8E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59552" y="2199132"/>
            <a:ext cx="1307592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DS18B20 / LM35DZ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903720" y="2199132"/>
            <a:ext cx="1920240" cy="352044"/>
          </a:xfrm>
          <a:prstGeom prst="rect">
            <a:avLst/>
          </a:prstGeom>
          <a:solidFill>
            <a:srgbClr val="FFFFFF"/>
          </a:solidFill>
          <a:ln w="3810">
            <a:solidFill>
              <a:srgbClr val="D1E8E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76872" y="2199132"/>
            <a:ext cx="1810512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Pre-ignition temperature detection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31520" y="2199132"/>
            <a:ext cx="36576" cy="352044"/>
          </a:xfrm>
          <a:prstGeom prst="rect">
            <a:avLst/>
          </a:prstGeom>
          <a:solidFill>
            <a:srgbClr val="0D9488">
              <a:alpha val="7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228600" y="2551176"/>
            <a:ext cx="502920" cy="352044"/>
          </a:xfrm>
          <a:prstGeom prst="rect">
            <a:avLst/>
          </a:prstGeom>
          <a:solidFill>
            <a:srgbClr val="EDF7F5"/>
          </a:solidFill>
          <a:ln w="3810">
            <a:solidFill>
              <a:srgbClr val="D1E8E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0040" y="2642616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5" name="Text 53"/>
          <p:cNvSpPr/>
          <p:nvPr/>
        </p:nvSpPr>
        <p:spPr>
          <a:xfrm>
            <a:off x="320040" y="26426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731520" y="2551176"/>
            <a:ext cx="2834640" cy="352044"/>
          </a:xfrm>
          <a:prstGeom prst="rect">
            <a:avLst/>
          </a:prstGeom>
          <a:solidFill>
            <a:srgbClr val="EDF7F5"/>
          </a:solidFill>
          <a:ln w="3810">
            <a:solidFill>
              <a:srgbClr val="D1E8E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2960" y="2551176"/>
            <a:ext cx="269748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A1A"/>
                </a:solidFill>
              </a:rPr>
              <a:t>Relay Module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3566160" y="2551176"/>
            <a:ext cx="1920240" cy="352044"/>
          </a:xfrm>
          <a:prstGeom prst="rect">
            <a:avLst/>
          </a:prstGeom>
          <a:solidFill>
            <a:srgbClr val="EDF7F5"/>
          </a:solidFill>
          <a:ln w="3810">
            <a:solidFill>
              <a:srgbClr val="D1E8E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39312" y="2551176"/>
            <a:ext cx="1810512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5540"/>
                </a:solidFill>
              </a:rPr>
              <a:t>₹ 654.93 / piece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486400" y="2551176"/>
            <a:ext cx="1417320" cy="352044"/>
          </a:xfrm>
          <a:prstGeom prst="rect">
            <a:avLst/>
          </a:prstGeom>
          <a:solidFill>
            <a:srgbClr val="EDF7F5"/>
          </a:solidFill>
          <a:ln w="3810">
            <a:solidFill>
              <a:srgbClr val="D1E8E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59552" y="2551176"/>
            <a:ext cx="1307592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SRD-05VDC-SL-C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903720" y="2551176"/>
            <a:ext cx="1920240" cy="352044"/>
          </a:xfrm>
          <a:prstGeom prst="rect">
            <a:avLst/>
          </a:prstGeom>
          <a:solidFill>
            <a:srgbClr val="EDF7F5"/>
          </a:solidFill>
          <a:ln w="3810">
            <a:solidFill>
              <a:srgbClr val="D1E8E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976872" y="2551176"/>
            <a:ext cx="1810512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Solenoid valve switching interface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731520" y="2551176"/>
            <a:ext cx="36576" cy="352044"/>
          </a:xfrm>
          <a:prstGeom prst="rect">
            <a:avLst/>
          </a:prstGeom>
          <a:solidFill>
            <a:srgbClr val="3ECFAF">
              <a:alpha val="70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228600" y="2903220"/>
            <a:ext cx="502920" cy="352044"/>
          </a:xfrm>
          <a:prstGeom prst="rect">
            <a:avLst/>
          </a:prstGeom>
          <a:solidFill>
            <a:srgbClr val="FFFFFF"/>
          </a:solidFill>
          <a:ln w="3810">
            <a:solidFill>
              <a:srgbClr val="D1E8E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20040" y="2994660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7" name="Text 65"/>
          <p:cNvSpPr/>
          <p:nvPr/>
        </p:nvSpPr>
        <p:spPr>
          <a:xfrm>
            <a:off x="320040" y="29946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731520" y="2903220"/>
            <a:ext cx="2834640" cy="352044"/>
          </a:xfrm>
          <a:prstGeom prst="rect">
            <a:avLst/>
          </a:prstGeom>
          <a:solidFill>
            <a:srgbClr val="FFFFFF"/>
          </a:solidFill>
          <a:ln w="3810">
            <a:solidFill>
              <a:srgbClr val="D1E8E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22960" y="2903220"/>
            <a:ext cx="269748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A1A"/>
                </a:solidFill>
              </a:rPr>
              <a:t>Exhaust Fan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3566160" y="2903220"/>
            <a:ext cx="1920240" cy="352044"/>
          </a:xfrm>
          <a:prstGeom prst="rect">
            <a:avLst/>
          </a:prstGeom>
          <a:solidFill>
            <a:srgbClr val="FFFFFF"/>
          </a:solidFill>
          <a:ln w="3810">
            <a:solidFill>
              <a:srgbClr val="D1E8E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639312" y="2903220"/>
            <a:ext cx="1810512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5540"/>
                </a:solidFill>
              </a:rPr>
              <a:t>₹ 381.82 / piece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5486400" y="2903220"/>
            <a:ext cx="1417320" cy="352044"/>
          </a:xfrm>
          <a:prstGeom prst="rect">
            <a:avLst/>
          </a:prstGeom>
          <a:solidFill>
            <a:srgbClr val="FFFFFF"/>
          </a:solidFill>
          <a:ln w="3810">
            <a:solidFill>
              <a:srgbClr val="D1E8E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559552" y="2903220"/>
            <a:ext cx="1307592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MF40100V1-1000U-A99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6903720" y="2903220"/>
            <a:ext cx="1920240" cy="352044"/>
          </a:xfrm>
          <a:prstGeom prst="rect">
            <a:avLst/>
          </a:prstGeom>
          <a:solidFill>
            <a:srgbClr val="FFFFFF"/>
          </a:solidFill>
          <a:ln w="3810">
            <a:solidFill>
              <a:srgbClr val="D1E8E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976872" y="2903220"/>
            <a:ext cx="1810512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Gas ventilation — auto on/off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731520" y="2903220"/>
            <a:ext cx="36576" cy="352044"/>
          </a:xfrm>
          <a:prstGeom prst="rect">
            <a:avLst/>
          </a:prstGeom>
          <a:solidFill>
            <a:srgbClr val="0D9488">
              <a:alpha val="70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228600" y="3255264"/>
            <a:ext cx="502920" cy="352044"/>
          </a:xfrm>
          <a:prstGeom prst="rect">
            <a:avLst/>
          </a:prstGeom>
          <a:solidFill>
            <a:srgbClr val="EDF7F5"/>
          </a:solidFill>
          <a:ln w="3810">
            <a:solidFill>
              <a:srgbClr val="D1E8E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20040" y="3346704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9" name="Text 77"/>
          <p:cNvSpPr/>
          <p:nvPr/>
        </p:nvSpPr>
        <p:spPr>
          <a:xfrm>
            <a:off x="320040" y="33467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6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731520" y="3255264"/>
            <a:ext cx="2834640" cy="352044"/>
          </a:xfrm>
          <a:prstGeom prst="rect">
            <a:avLst/>
          </a:prstGeom>
          <a:solidFill>
            <a:srgbClr val="EDF7F5"/>
          </a:solidFill>
          <a:ln w="3810">
            <a:solidFill>
              <a:srgbClr val="D1E8E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22960" y="3255264"/>
            <a:ext cx="269748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A1A"/>
                </a:solidFill>
              </a:rPr>
              <a:t>Solenoid Valve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3566160" y="3255264"/>
            <a:ext cx="1920240" cy="352044"/>
          </a:xfrm>
          <a:prstGeom prst="rect">
            <a:avLst/>
          </a:prstGeom>
          <a:solidFill>
            <a:srgbClr val="EDF7F5"/>
          </a:solidFill>
          <a:ln w="3810">
            <a:solidFill>
              <a:srgbClr val="D1E8E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639312" y="3255264"/>
            <a:ext cx="1810512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5540"/>
                </a:solidFill>
              </a:rPr>
              <a:t>₹ 265 / piece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5486400" y="3255264"/>
            <a:ext cx="1417320" cy="352044"/>
          </a:xfrm>
          <a:prstGeom prst="rect">
            <a:avLst/>
          </a:prstGeom>
          <a:solidFill>
            <a:srgbClr val="EDF7F5"/>
          </a:solidFill>
          <a:ln w="3810">
            <a:solidFill>
              <a:srgbClr val="D1E8E4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559552" y="3255264"/>
            <a:ext cx="1307592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VALVE-12V, Olimex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6903720" y="3255264"/>
            <a:ext cx="1920240" cy="352044"/>
          </a:xfrm>
          <a:prstGeom prst="rect">
            <a:avLst/>
          </a:prstGeom>
          <a:solidFill>
            <a:srgbClr val="EDF7F5"/>
          </a:solidFill>
          <a:ln w="3810">
            <a:solidFill>
              <a:srgbClr val="D1E8E4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976872" y="3255264"/>
            <a:ext cx="1810512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Gas cylinder shutoff — fail-safe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731520" y="3255264"/>
            <a:ext cx="36576" cy="352044"/>
          </a:xfrm>
          <a:prstGeom prst="rect">
            <a:avLst/>
          </a:prstGeom>
          <a:solidFill>
            <a:srgbClr val="3ECFAF">
              <a:alpha val="70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228600" y="3607308"/>
            <a:ext cx="502920" cy="352044"/>
          </a:xfrm>
          <a:prstGeom prst="rect">
            <a:avLst/>
          </a:prstGeom>
          <a:solidFill>
            <a:srgbClr val="FFFFFF"/>
          </a:solidFill>
          <a:ln w="3810">
            <a:solidFill>
              <a:srgbClr val="D1E8E4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20040" y="3698748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1" name="Text 89"/>
          <p:cNvSpPr/>
          <p:nvPr/>
        </p:nvSpPr>
        <p:spPr>
          <a:xfrm>
            <a:off x="320040" y="36987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7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731520" y="3607308"/>
            <a:ext cx="2834640" cy="352044"/>
          </a:xfrm>
          <a:prstGeom prst="rect">
            <a:avLst/>
          </a:prstGeom>
          <a:solidFill>
            <a:srgbClr val="FFFFFF"/>
          </a:solidFill>
          <a:ln w="3810">
            <a:solidFill>
              <a:srgbClr val="D1E8E4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22960" y="3607308"/>
            <a:ext cx="269748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A1A"/>
                </a:solidFill>
              </a:rPr>
              <a:t>Piezo Buzzer</a:t>
            </a:r>
            <a:endParaRPr lang="en-US" sz="1050" dirty="0"/>
          </a:p>
        </p:txBody>
      </p:sp>
      <p:sp>
        <p:nvSpPr>
          <p:cNvPr id="94" name="Shape 92"/>
          <p:cNvSpPr/>
          <p:nvPr/>
        </p:nvSpPr>
        <p:spPr>
          <a:xfrm>
            <a:off x="3566160" y="3607308"/>
            <a:ext cx="1920240" cy="352044"/>
          </a:xfrm>
          <a:prstGeom prst="rect">
            <a:avLst/>
          </a:prstGeom>
          <a:solidFill>
            <a:srgbClr val="FFFFFF"/>
          </a:solidFill>
          <a:ln w="3810">
            <a:solidFill>
              <a:srgbClr val="D1E8E4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639312" y="3607308"/>
            <a:ext cx="1810512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5540"/>
                </a:solidFill>
              </a:rPr>
              <a:t>₹ 72.77 / piece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5486400" y="3607308"/>
            <a:ext cx="1417320" cy="352044"/>
          </a:xfrm>
          <a:prstGeom prst="rect">
            <a:avLst/>
          </a:prstGeom>
          <a:solidFill>
            <a:srgbClr val="FFFFFF"/>
          </a:solidFill>
          <a:ln w="3810">
            <a:solidFill>
              <a:srgbClr val="D1E8E4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559552" y="3607308"/>
            <a:ext cx="1307592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CEM-1203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6903720" y="3607308"/>
            <a:ext cx="1920240" cy="352044"/>
          </a:xfrm>
          <a:prstGeom prst="rect">
            <a:avLst/>
          </a:prstGeom>
          <a:solidFill>
            <a:srgbClr val="FFFFFF"/>
          </a:solidFill>
          <a:ln w="3810">
            <a:solidFill>
              <a:srgbClr val="D1E8E4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976872" y="3607308"/>
            <a:ext cx="1810512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Local audio alarm on detection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731520" y="3607308"/>
            <a:ext cx="36576" cy="352044"/>
          </a:xfrm>
          <a:prstGeom prst="rect">
            <a:avLst/>
          </a:prstGeom>
          <a:solidFill>
            <a:srgbClr val="0D9488">
              <a:alpha val="70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>
            <a:off x="228600" y="3959352"/>
            <a:ext cx="502920" cy="352044"/>
          </a:xfrm>
          <a:prstGeom prst="rect">
            <a:avLst/>
          </a:prstGeom>
          <a:solidFill>
            <a:srgbClr val="EDF7F5"/>
          </a:solidFill>
          <a:ln w="3810">
            <a:solidFill>
              <a:srgbClr val="D1E8E4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20040" y="4050792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3" name="Text 101"/>
          <p:cNvSpPr/>
          <p:nvPr/>
        </p:nvSpPr>
        <p:spPr>
          <a:xfrm>
            <a:off x="320040" y="40507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8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731520" y="3959352"/>
            <a:ext cx="2834640" cy="352044"/>
          </a:xfrm>
          <a:prstGeom prst="rect">
            <a:avLst/>
          </a:prstGeom>
          <a:solidFill>
            <a:srgbClr val="EDF7F5"/>
          </a:solidFill>
          <a:ln w="3810">
            <a:solidFill>
              <a:srgbClr val="D1E8E4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822960" y="3959352"/>
            <a:ext cx="269748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A1A"/>
                </a:solidFill>
              </a:rPr>
              <a:t>GSM Module</a:t>
            </a:r>
            <a:endParaRPr lang="en-US" sz="1050" dirty="0"/>
          </a:p>
        </p:txBody>
      </p:sp>
      <p:sp>
        <p:nvSpPr>
          <p:cNvPr id="106" name="Shape 104"/>
          <p:cNvSpPr/>
          <p:nvPr/>
        </p:nvSpPr>
        <p:spPr>
          <a:xfrm>
            <a:off x="3566160" y="3959352"/>
            <a:ext cx="1920240" cy="352044"/>
          </a:xfrm>
          <a:prstGeom prst="rect">
            <a:avLst/>
          </a:prstGeom>
          <a:solidFill>
            <a:srgbClr val="EDF7F5"/>
          </a:solidFill>
          <a:ln w="3810">
            <a:solidFill>
              <a:srgbClr val="D1E8E4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639312" y="3959352"/>
            <a:ext cx="1810512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5540"/>
                </a:solidFill>
              </a:rPr>
              <a:t>₹ 500–600 / piece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5486400" y="3959352"/>
            <a:ext cx="1417320" cy="352044"/>
          </a:xfrm>
          <a:prstGeom prst="rect">
            <a:avLst/>
          </a:prstGeom>
          <a:solidFill>
            <a:srgbClr val="EDF7F5"/>
          </a:solidFill>
          <a:ln w="3810">
            <a:solidFill>
              <a:srgbClr val="D1E8E4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559552" y="3959352"/>
            <a:ext cx="1307592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SIM800L / SIM900A</a:t>
            </a:r>
            <a:endParaRPr lang="en-US" sz="950" dirty="0"/>
          </a:p>
        </p:txBody>
      </p:sp>
      <p:sp>
        <p:nvSpPr>
          <p:cNvPr id="110" name="Shape 108"/>
          <p:cNvSpPr/>
          <p:nvPr/>
        </p:nvSpPr>
        <p:spPr>
          <a:xfrm>
            <a:off x="6903720" y="3959352"/>
            <a:ext cx="1920240" cy="352044"/>
          </a:xfrm>
          <a:prstGeom prst="rect">
            <a:avLst/>
          </a:prstGeom>
          <a:solidFill>
            <a:srgbClr val="EDF7F5"/>
          </a:solidFill>
          <a:ln w="3810">
            <a:solidFill>
              <a:srgbClr val="D1E8E4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976872" y="3959352"/>
            <a:ext cx="1810512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SMS alert via TX/RX UART</a:t>
            </a:r>
            <a:endParaRPr lang="en-US" sz="950" dirty="0"/>
          </a:p>
        </p:txBody>
      </p:sp>
      <p:sp>
        <p:nvSpPr>
          <p:cNvPr id="112" name="Shape 110"/>
          <p:cNvSpPr/>
          <p:nvPr/>
        </p:nvSpPr>
        <p:spPr>
          <a:xfrm>
            <a:off x="731520" y="3959352"/>
            <a:ext cx="36576" cy="352044"/>
          </a:xfrm>
          <a:prstGeom prst="rect">
            <a:avLst/>
          </a:prstGeom>
          <a:solidFill>
            <a:srgbClr val="3ECFAF">
              <a:alpha val="70000"/>
            </a:srgbClr>
          </a:solidFill>
          <a:ln/>
        </p:spPr>
      </p:sp>
      <p:sp>
        <p:nvSpPr>
          <p:cNvPr id="113" name="Shape 111"/>
          <p:cNvSpPr/>
          <p:nvPr/>
        </p:nvSpPr>
        <p:spPr>
          <a:xfrm>
            <a:off x="228600" y="4311396"/>
            <a:ext cx="502920" cy="352044"/>
          </a:xfrm>
          <a:prstGeom prst="rect">
            <a:avLst/>
          </a:prstGeom>
          <a:solidFill>
            <a:srgbClr val="FFFFFF"/>
          </a:solidFill>
          <a:ln w="3810">
            <a:solidFill>
              <a:srgbClr val="D1E8E4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20040" y="4402836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5" name="Text 113"/>
          <p:cNvSpPr/>
          <p:nvPr/>
        </p:nvSpPr>
        <p:spPr>
          <a:xfrm>
            <a:off x="320040" y="44028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9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731520" y="4311396"/>
            <a:ext cx="2834640" cy="352044"/>
          </a:xfrm>
          <a:prstGeom prst="rect">
            <a:avLst/>
          </a:prstGeom>
          <a:solidFill>
            <a:srgbClr val="FFFFFF"/>
          </a:solidFill>
          <a:ln w="3810">
            <a:solidFill>
              <a:srgbClr val="D1E8E4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822960" y="4311396"/>
            <a:ext cx="269748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A1A"/>
                </a:solidFill>
              </a:rPr>
              <a:t>Reset Button</a:t>
            </a:r>
            <a:endParaRPr lang="en-US" sz="1050" dirty="0"/>
          </a:p>
        </p:txBody>
      </p:sp>
      <p:sp>
        <p:nvSpPr>
          <p:cNvPr id="118" name="Shape 116"/>
          <p:cNvSpPr/>
          <p:nvPr/>
        </p:nvSpPr>
        <p:spPr>
          <a:xfrm>
            <a:off x="3566160" y="4311396"/>
            <a:ext cx="1920240" cy="352044"/>
          </a:xfrm>
          <a:prstGeom prst="rect">
            <a:avLst/>
          </a:prstGeom>
          <a:solidFill>
            <a:srgbClr val="FFFFFF"/>
          </a:solidFill>
          <a:ln w="3810">
            <a:solidFill>
              <a:srgbClr val="D1E8E4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3639312" y="4311396"/>
            <a:ext cx="1810512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5540"/>
                </a:solidFill>
              </a:rPr>
              <a:t>₹ 21.56 / piece</a:t>
            </a:r>
            <a:endParaRPr lang="en-US" sz="1000" dirty="0"/>
          </a:p>
        </p:txBody>
      </p:sp>
      <p:sp>
        <p:nvSpPr>
          <p:cNvPr id="120" name="Shape 118"/>
          <p:cNvSpPr/>
          <p:nvPr/>
        </p:nvSpPr>
        <p:spPr>
          <a:xfrm>
            <a:off x="5486400" y="4311396"/>
            <a:ext cx="1417320" cy="352044"/>
          </a:xfrm>
          <a:prstGeom prst="rect">
            <a:avLst/>
          </a:prstGeom>
          <a:solidFill>
            <a:srgbClr val="FFFFFF"/>
          </a:solidFill>
          <a:ln w="3810">
            <a:solidFill>
              <a:srgbClr val="D1E8E4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5559552" y="4311396"/>
            <a:ext cx="1307592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OMRON B3F-1000</a:t>
            </a:r>
            <a:endParaRPr lang="en-US" sz="950" dirty="0"/>
          </a:p>
        </p:txBody>
      </p:sp>
      <p:sp>
        <p:nvSpPr>
          <p:cNvPr id="122" name="Shape 120"/>
          <p:cNvSpPr/>
          <p:nvPr/>
        </p:nvSpPr>
        <p:spPr>
          <a:xfrm>
            <a:off x="6903720" y="4311396"/>
            <a:ext cx="1920240" cy="352044"/>
          </a:xfrm>
          <a:prstGeom prst="rect">
            <a:avLst/>
          </a:prstGeom>
          <a:solidFill>
            <a:srgbClr val="FFFFFF"/>
          </a:solidFill>
          <a:ln w="3810">
            <a:solidFill>
              <a:srgbClr val="D1E8E4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6976872" y="4311396"/>
            <a:ext cx="1810512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Manual valve re-open confirmation</a:t>
            </a:r>
            <a:endParaRPr lang="en-US" sz="950" dirty="0"/>
          </a:p>
        </p:txBody>
      </p:sp>
      <p:sp>
        <p:nvSpPr>
          <p:cNvPr id="124" name="Shape 122"/>
          <p:cNvSpPr/>
          <p:nvPr/>
        </p:nvSpPr>
        <p:spPr>
          <a:xfrm>
            <a:off x="731520" y="4311396"/>
            <a:ext cx="36576" cy="352044"/>
          </a:xfrm>
          <a:prstGeom prst="rect">
            <a:avLst/>
          </a:prstGeom>
          <a:solidFill>
            <a:srgbClr val="0D9488">
              <a:alpha val="70000"/>
            </a:srgbClr>
          </a:solidFill>
          <a:ln/>
        </p:spPr>
      </p:sp>
      <p:sp>
        <p:nvSpPr>
          <p:cNvPr id="137" name="Shape 135"/>
          <p:cNvSpPr/>
          <p:nvPr/>
        </p:nvSpPr>
        <p:spPr>
          <a:xfrm>
            <a:off x="228600" y="4791456"/>
            <a:ext cx="8604504" cy="35204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38" name="Text 136"/>
          <p:cNvSpPr/>
          <p:nvPr/>
        </p:nvSpPr>
        <p:spPr>
          <a:xfrm>
            <a:off x="411480" y="4791456"/>
            <a:ext cx="365760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Total Components: 9</a:t>
            </a:r>
            <a:endParaRPr lang="en-US" sz="1100" dirty="0"/>
          </a:p>
        </p:txBody>
      </p:sp>
      <p:sp>
        <p:nvSpPr>
          <p:cNvPr id="139" name="Text 137"/>
          <p:cNvSpPr/>
          <p:nvPr/>
        </p:nvSpPr>
        <p:spPr>
          <a:xfrm>
            <a:off x="3703320" y="4791456"/>
            <a:ext cx="521208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ACB8"/>
                </a:solidFill>
              </a:rPr>
              <a:t>ESP32 · MQ-6 · LM35 · Relay · Fan · Solenoid · Buzzer · GSM · Reset · 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194</Words>
  <Application>Microsoft Office PowerPoint</Application>
  <PresentationFormat>On-screen Show (16:9)</PresentationFormat>
  <Paragraphs>63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Gas Leak Detection — Bill of Materials</dc:title>
  <dc:subject>PptxGenJS Presentation</dc:subject>
  <dc:creator>PptxGenJS</dc:creator>
  <cp:lastModifiedBy>R M</cp:lastModifiedBy>
  <cp:revision>4</cp:revision>
  <dcterms:created xsi:type="dcterms:W3CDTF">2026-04-09T13:47:43Z</dcterms:created>
  <dcterms:modified xsi:type="dcterms:W3CDTF">2026-04-09T14:00:40Z</dcterms:modified>
</cp:coreProperties>
</file>