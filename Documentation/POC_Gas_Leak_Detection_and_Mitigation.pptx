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D9488"/>
          </a:solidFill>
          <a:ln/>
        </p:spPr>
      </p:sp>
      <p:sp>
        <p:nvSpPr>
          <p:cNvPr id="3" name="Shape 1"/>
          <p:cNvSpPr/>
          <p:nvPr/>
        </p:nvSpPr>
        <p:spPr>
          <a:xfrm>
            <a:off x="6949440" y="-822960"/>
            <a:ext cx="3657600" cy="3657600"/>
          </a:xfrm>
          <a:prstGeom prst="ellipse">
            <a:avLst/>
          </a:prstGeom>
          <a:solidFill>
            <a:srgbClr val="0D9488">
              <a:alpha val="12000"/>
            </a:srgbClr>
          </a:solidFill>
          <a:ln w="10160">
            <a:solidFill>
              <a:srgbClr val="0D9488"/>
            </a:solidFill>
            <a:prstDash val="solid"/>
          </a:ln>
        </p:spPr>
      </p:sp>
      <p:sp>
        <p:nvSpPr>
          <p:cNvPr id="4" name="Shape 2"/>
          <p:cNvSpPr/>
          <p:nvPr/>
        </p:nvSpPr>
        <p:spPr>
          <a:xfrm>
            <a:off x="7772400" y="2926080"/>
            <a:ext cx="2011680" cy="2011680"/>
          </a:xfrm>
          <a:prstGeom prst="ellipse">
            <a:avLst/>
          </a:prstGeom>
          <a:solidFill>
            <a:srgbClr val="0D9488">
              <a:alpha val="9000"/>
            </a:srgbClr>
          </a:solidFill>
          <a:ln w="10160">
            <a:solidFill>
              <a:srgbClr val="0D9488"/>
            </a:solidFill>
            <a:prstDash val="solid"/>
          </a:ln>
        </p:spPr>
      </p:sp>
      <p:sp>
        <p:nvSpPr>
          <p:cNvPr id="5" name="Shape 3"/>
          <p:cNvSpPr/>
          <p:nvPr/>
        </p:nvSpPr>
        <p:spPr>
          <a:xfrm>
            <a:off x="365760" y="914400"/>
            <a:ext cx="2377440" cy="292608"/>
          </a:xfrm>
          <a:prstGeom prst="rect">
            <a:avLst/>
          </a:prstGeom>
          <a:solidFill>
            <a:srgbClr val="0D9488"/>
          </a:solidFill>
          <a:ln/>
        </p:spPr>
      </p:sp>
      <p:sp>
        <p:nvSpPr>
          <p:cNvPr id="6" name="Text 4"/>
          <p:cNvSpPr/>
          <p:nvPr/>
        </p:nvSpPr>
        <p:spPr>
          <a:xfrm>
            <a:off x="365760" y="914400"/>
            <a:ext cx="2377440" cy="292608"/>
          </a:xfrm>
          <a:prstGeom prst="rect">
            <a:avLst/>
          </a:prstGeom>
          <a:noFill/>
          <a:ln/>
        </p:spPr>
        <p:txBody>
          <a:bodyPr wrap="square" lIns="0" tIns="0" rIns="0" bIns="0" rtlCol="0" anchor="ctr"/>
          <a:lstStyle/>
          <a:p>
            <a:pPr algn="ctr" indent="0" marL="0">
              <a:buNone/>
            </a:pPr>
            <a:r>
              <a:rPr lang="en-US" sz="900" b="1" dirty="0">
                <a:solidFill>
                  <a:srgbClr val="FFFFFF"/>
                </a:solidFill>
              </a:rPr>
              <a:t>IoT Gas Leak Detection System</a:t>
            </a:r>
            <a:endParaRPr lang="en-US" sz="900" dirty="0"/>
          </a:p>
        </p:txBody>
      </p:sp>
      <p:sp>
        <p:nvSpPr>
          <p:cNvPr id="7" name="Text 5"/>
          <p:cNvSpPr/>
          <p:nvPr/>
        </p:nvSpPr>
        <p:spPr>
          <a:xfrm>
            <a:off x="347472" y="1353312"/>
            <a:ext cx="6858000" cy="713232"/>
          </a:xfrm>
          <a:prstGeom prst="rect">
            <a:avLst/>
          </a:prstGeom>
          <a:noFill/>
          <a:ln/>
        </p:spPr>
        <p:txBody>
          <a:bodyPr wrap="square" rtlCol="0" anchor="ctr"/>
          <a:lstStyle/>
          <a:p>
            <a:pPr indent="0" marL="0">
              <a:buNone/>
            </a:pPr>
            <a:r>
              <a:rPr lang="en-US" sz="4200" b="1" dirty="0">
                <a:solidFill>
                  <a:srgbClr val="FFFFFF"/>
                </a:solidFill>
              </a:rPr>
              <a:t>Proof of Concepts</a:t>
            </a:r>
            <a:endParaRPr lang="en-US" sz="4200" dirty="0"/>
          </a:p>
        </p:txBody>
      </p:sp>
      <p:sp>
        <p:nvSpPr>
          <p:cNvPr id="8" name="Text 6"/>
          <p:cNvSpPr/>
          <p:nvPr/>
        </p:nvSpPr>
        <p:spPr>
          <a:xfrm>
            <a:off x="347472" y="2048256"/>
            <a:ext cx="6858000" cy="365760"/>
          </a:xfrm>
          <a:prstGeom prst="rect">
            <a:avLst/>
          </a:prstGeom>
          <a:noFill/>
          <a:ln/>
        </p:spPr>
        <p:txBody>
          <a:bodyPr wrap="square" rtlCol="0" anchor="ctr"/>
          <a:lstStyle/>
          <a:p>
            <a:pPr indent="0" marL="0">
              <a:buNone/>
            </a:pPr>
            <a:r>
              <a:rPr lang="en-US" sz="1600" dirty="0">
                <a:solidFill>
                  <a:srgbClr val="3ECFAF"/>
                </a:solidFill>
              </a:rPr>
              <a:t>Intelligent IoT-Driven Gas Leak Detection</a:t>
            </a:r>
            <a:endParaRPr lang="en-US" sz="1600" dirty="0"/>
          </a:p>
        </p:txBody>
      </p:sp>
      <p:sp>
        <p:nvSpPr>
          <p:cNvPr id="9" name="Text 7"/>
          <p:cNvSpPr/>
          <p:nvPr/>
        </p:nvSpPr>
        <p:spPr>
          <a:xfrm>
            <a:off x="347472" y="2395728"/>
            <a:ext cx="6858000" cy="320040"/>
          </a:xfrm>
          <a:prstGeom prst="rect">
            <a:avLst/>
          </a:prstGeom>
          <a:noFill/>
          <a:ln/>
        </p:spPr>
        <p:txBody>
          <a:bodyPr wrap="square" rtlCol="0" anchor="ctr"/>
          <a:lstStyle/>
          <a:p>
            <a:pPr indent="0" marL="0">
              <a:buNone/>
            </a:pPr>
            <a:r>
              <a:rPr lang="en-US" sz="1300" dirty="0">
                <a:solidFill>
                  <a:srgbClr val="7AACB8"/>
                </a:solidFill>
              </a:rPr>
              <a:t>with Multi-Layered Automated Protection</a:t>
            </a:r>
            <a:endParaRPr lang="en-US" sz="1300" dirty="0"/>
          </a:p>
        </p:txBody>
      </p:sp>
      <p:sp>
        <p:nvSpPr>
          <p:cNvPr id="10" name="Shape 8"/>
          <p:cNvSpPr/>
          <p:nvPr/>
        </p:nvSpPr>
        <p:spPr>
          <a:xfrm>
            <a:off x="347472" y="2834640"/>
            <a:ext cx="5943600" cy="32004"/>
          </a:xfrm>
          <a:prstGeom prst="rect">
            <a:avLst/>
          </a:prstGeom>
          <a:solidFill>
            <a:srgbClr val="0D9488"/>
          </a:solidFill>
          <a:ln/>
        </p:spPr>
      </p:sp>
      <p:sp>
        <p:nvSpPr>
          <p:cNvPr id="11" name="Shape 9"/>
          <p:cNvSpPr/>
          <p:nvPr/>
        </p:nvSpPr>
        <p:spPr>
          <a:xfrm>
            <a:off x="347472" y="2999232"/>
            <a:ext cx="2606040" cy="621792"/>
          </a:xfrm>
          <a:prstGeom prst="rect">
            <a:avLst/>
          </a:prstGeom>
          <a:solidFill>
            <a:srgbClr val="D97706"/>
          </a:solidFill>
          <a:ln/>
          <a:effectLst>
            <a:outerShdw sx="100000" sy="100000" kx="0" ky="0" algn="bl" rotWithShape="0" blurRad="101600" dist="38100" dir="8100000">
              <a:srgbClr val="000000">
                <a:alpha val="12000"/>
              </a:srgbClr>
            </a:outerShdw>
          </a:effectLst>
        </p:spPr>
      </p:sp>
      <p:sp>
        <p:nvSpPr>
          <p:cNvPr id="12" name="Shape 10"/>
          <p:cNvSpPr/>
          <p:nvPr/>
        </p:nvSpPr>
        <p:spPr>
          <a:xfrm>
            <a:off x="347472" y="2999232"/>
            <a:ext cx="2606040" cy="219456"/>
          </a:xfrm>
          <a:prstGeom prst="rect">
            <a:avLst/>
          </a:prstGeom>
          <a:solidFill>
            <a:srgbClr val="0D1B2A">
              <a:alpha val="65000"/>
            </a:srgbClr>
          </a:solidFill>
          <a:ln/>
        </p:spPr>
      </p:sp>
      <p:sp>
        <p:nvSpPr>
          <p:cNvPr id="13" name="Text 11"/>
          <p:cNvSpPr/>
          <p:nvPr/>
        </p:nvSpPr>
        <p:spPr>
          <a:xfrm>
            <a:off x="347472" y="2999232"/>
            <a:ext cx="2606040" cy="219456"/>
          </a:xfrm>
          <a:prstGeom prst="rect">
            <a:avLst/>
          </a:prstGeom>
          <a:noFill/>
          <a:ln/>
        </p:spPr>
        <p:txBody>
          <a:bodyPr wrap="square" lIns="0" tIns="0" rIns="0" bIns="0" rtlCol="0" anchor="ctr"/>
          <a:lstStyle/>
          <a:p>
            <a:pPr algn="ctr" indent="0" marL="0">
              <a:buNone/>
            </a:pPr>
            <a:r>
              <a:rPr lang="en-US" sz="900" b="1" dirty="0">
                <a:solidFill>
                  <a:srgbClr val="FFFFFF"/>
                </a:solidFill>
              </a:rPr>
              <a:t>POC 1</a:t>
            </a:r>
            <a:endParaRPr lang="en-US" sz="900" dirty="0"/>
          </a:p>
        </p:txBody>
      </p:sp>
      <p:sp>
        <p:nvSpPr>
          <p:cNvPr id="14" name="Text 12"/>
          <p:cNvSpPr/>
          <p:nvPr/>
        </p:nvSpPr>
        <p:spPr>
          <a:xfrm>
            <a:off x="347472" y="3200400"/>
            <a:ext cx="2606040" cy="402336"/>
          </a:xfrm>
          <a:prstGeom prst="rect">
            <a:avLst/>
          </a:prstGeom>
          <a:noFill/>
          <a:ln/>
        </p:spPr>
        <p:txBody>
          <a:bodyPr wrap="square" rtlCol="0" anchor="ctr"/>
          <a:lstStyle/>
          <a:p>
            <a:pPr algn="ctr" indent="0" marL="0">
              <a:buNone/>
            </a:pPr>
            <a:r>
              <a:rPr lang="en-US" sz="1400" b="1" dirty="0">
                <a:solidFill>
                  <a:srgbClr val="FFFFFF"/>
                </a:solidFill>
              </a:rPr>
              <a:t>Data Validation</a:t>
            </a:r>
            <a:endParaRPr lang="en-US" sz="1400" dirty="0"/>
          </a:p>
        </p:txBody>
      </p:sp>
      <p:sp>
        <p:nvSpPr>
          <p:cNvPr id="15" name="Shape 13"/>
          <p:cNvSpPr/>
          <p:nvPr/>
        </p:nvSpPr>
        <p:spPr>
          <a:xfrm>
            <a:off x="3182112" y="2999232"/>
            <a:ext cx="2606040" cy="621792"/>
          </a:xfrm>
          <a:prstGeom prst="rect">
            <a:avLst/>
          </a:prstGeom>
          <a:solidFill>
            <a:srgbClr val="1D4ED8"/>
          </a:solidFill>
          <a:ln/>
          <a:effectLst>
            <a:outerShdw sx="100000" sy="100000" kx="0" ky="0" algn="bl" rotWithShape="0" blurRad="101600" dist="38100" dir="8100000">
              <a:srgbClr val="000000">
                <a:alpha val="12000"/>
              </a:srgbClr>
            </a:outerShdw>
          </a:effectLst>
        </p:spPr>
      </p:sp>
      <p:sp>
        <p:nvSpPr>
          <p:cNvPr id="16" name="Shape 14"/>
          <p:cNvSpPr/>
          <p:nvPr/>
        </p:nvSpPr>
        <p:spPr>
          <a:xfrm>
            <a:off x="3182112" y="2999232"/>
            <a:ext cx="2606040" cy="219456"/>
          </a:xfrm>
          <a:prstGeom prst="rect">
            <a:avLst/>
          </a:prstGeom>
          <a:solidFill>
            <a:srgbClr val="0D1B2A">
              <a:alpha val="65000"/>
            </a:srgbClr>
          </a:solidFill>
          <a:ln/>
        </p:spPr>
      </p:sp>
      <p:sp>
        <p:nvSpPr>
          <p:cNvPr id="17" name="Text 15"/>
          <p:cNvSpPr/>
          <p:nvPr/>
        </p:nvSpPr>
        <p:spPr>
          <a:xfrm>
            <a:off x="3182112" y="2999232"/>
            <a:ext cx="2606040" cy="219456"/>
          </a:xfrm>
          <a:prstGeom prst="rect">
            <a:avLst/>
          </a:prstGeom>
          <a:noFill/>
          <a:ln/>
        </p:spPr>
        <p:txBody>
          <a:bodyPr wrap="square" lIns="0" tIns="0" rIns="0" bIns="0" rtlCol="0" anchor="ctr"/>
          <a:lstStyle/>
          <a:p>
            <a:pPr algn="ctr" indent="0" marL="0">
              <a:buNone/>
            </a:pPr>
            <a:r>
              <a:rPr lang="en-US" sz="900" b="1" dirty="0">
                <a:solidFill>
                  <a:srgbClr val="FFFFFF"/>
                </a:solidFill>
              </a:rPr>
              <a:t>POC 2</a:t>
            </a:r>
            <a:endParaRPr lang="en-US" sz="900" dirty="0"/>
          </a:p>
        </p:txBody>
      </p:sp>
      <p:sp>
        <p:nvSpPr>
          <p:cNvPr id="18" name="Text 16"/>
          <p:cNvSpPr/>
          <p:nvPr/>
        </p:nvSpPr>
        <p:spPr>
          <a:xfrm>
            <a:off x="3182112" y="3200400"/>
            <a:ext cx="2606040" cy="402336"/>
          </a:xfrm>
          <a:prstGeom prst="rect">
            <a:avLst/>
          </a:prstGeom>
          <a:noFill/>
          <a:ln/>
        </p:spPr>
        <p:txBody>
          <a:bodyPr wrap="square" rtlCol="0" anchor="ctr"/>
          <a:lstStyle/>
          <a:p>
            <a:pPr algn="ctr" indent="0" marL="0">
              <a:buNone/>
            </a:pPr>
            <a:r>
              <a:rPr lang="en-US" sz="1400" b="1" dirty="0">
                <a:solidFill>
                  <a:srgbClr val="FFFFFF"/>
                </a:solidFill>
              </a:rPr>
              <a:t>Control Logic</a:t>
            </a:r>
            <a:endParaRPr lang="en-US" sz="1400" dirty="0"/>
          </a:p>
        </p:txBody>
      </p:sp>
      <p:sp>
        <p:nvSpPr>
          <p:cNvPr id="19" name="Shape 17"/>
          <p:cNvSpPr/>
          <p:nvPr/>
        </p:nvSpPr>
        <p:spPr>
          <a:xfrm>
            <a:off x="6016752" y="2999232"/>
            <a:ext cx="2606040" cy="621792"/>
          </a:xfrm>
          <a:prstGeom prst="rect">
            <a:avLst/>
          </a:prstGeom>
          <a:solidFill>
            <a:srgbClr val="7C3AED"/>
          </a:solidFill>
          <a:ln/>
          <a:effectLst>
            <a:outerShdw sx="100000" sy="100000" kx="0" ky="0" algn="bl" rotWithShape="0" blurRad="101600" dist="38100" dir="8100000">
              <a:srgbClr val="000000">
                <a:alpha val="12000"/>
              </a:srgbClr>
            </a:outerShdw>
          </a:effectLst>
        </p:spPr>
      </p:sp>
      <p:sp>
        <p:nvSpPr>
          <p:cNvPr id="20" name="Shape 18"/>
          <p:cNvSpPr/>
          <p:nvPr/>
        </p:nvSpPr>
        <p:spPr>
          <a:xfrm>
            <a:off x="6016752" y="2999232"/>
            <a:ext cx="2606040" cy="219456"/>
          </a:xfrm>
          <a:prstGeom prst="rect">
            <a:avLst/>
          </a:prstGeom>
          <a:solidFill>
            <a:srgbClr val="0D1B2A">
              <a:alpha val="65000"/>
            </a:srgbClr>
          </a:solidFill>
          <a:ln/>
        </p:spPr>
      </p:sp>
      <p:sp>
        <p:nvSpPr>
          <p:cNvPr id="21" name="Text 19"/>
          <p:cNvSpPr/>
          <p:nvPr/>
        </p:nvSpPr>
        <p:spPr>
          <a:xfrm>
            <a:off x="6016752" y="2999232"/>
            <a:ext cx="2606040" cy="219456"/>
          </a:xfrm>
          <a:prstGeom prst="rect">
            <a:avLst/>
          </a:prstGeom>
          <a:noFill/>
          <a:ln/>
        </p:spPr>
        <p:txBody>
          <a:bodyPr wrap="square" lIns="0" tIns="0" rIns="0" bIns="0" rtlCol="0" anchor="ctr"/>
          <a:lstStyle/>
          <a:p>
            <a:pPr algn="ctr" indent="0" marL="0">
              <a:buNone/>
            </a:pPr>
            <a:r>
              <a:rPr lang="en-US" sz="900" b="1" dirty="0">
                <a:solidFill>
                  <a:srgbClr val="FFFFFF"/>
                </a:solidFill>
              </a:rPr>
              <a:t>POC 3</a:t>
            </a:r>
            <a:endParaRPr lang="en-US" sz="900" dirty="0"/>
          </a:p>
        </p:txBody>
      </p:sp>
      <p:sp>
        <p:nvSpPr>
          <p:cNvPr id="22" name="Text 20"/>
          <p:cNvSpPr/>
          <p:nvPr/>
        </p:nvSpPr>
        <p:spPr>
          <a:xfrm>
            <a:off x="6016752" y="3200400"/>
            <a:ext cx="2606040" cy="402336"/>
          </a:xfrm>
          <a:prstGeom prst="rect">
            <a:avLst/>
          </a:prstGeom>
          <a:noFill/>
          <a:ln/>
        </p:spPr>
        <p:txBody>
          <a:bodyPr wrap="square" rtlCol="0" anchor="ctr"/>
          <a:lstStyle/>
          <a:p>
            <a:pPr algn="ctr" indent="0" marL="0">
              <a:buNone/>
            </a:pPr>
            <a:r>
              <a:rPr lang="en-US" sz="1400" b="1" dirty="0">
                <a:solidFill>
                  <a:srgbClr val="FFFFFF"/>
                </a:solidFill>
              </a:rPr>
              <a:t>Communication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7"/>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92400E"/>
          </a:solidFill>
          <a:ln/>
        </p:spPr>
      </p:sp>
      <p:sp>
        <p:nvSpPr>
          <p:cNvPr id="3" name="Shape 1"/>
          <p:cNvSpPr/>
          <p:nvPr/>
        </p:nvSpPr>
        <p:spPr>
          <a:xfrm>
            <a:off x="0" y="960120"/>
            <a:ext cx="9144000" cy="50292"/>
          </a:xfrm>
          <a:prstGeom prst="rect">
            <a:avLst/>
          </a:prstGeom>
          <a:solidFill>
            <a:srgbClr val="D97706"/>
          </a:solidFill>
          <a:ln/>
        </p:spPr>
      </p:sp>
      <p:sp>
        <p:nvSpPr>
          <p:cNvPr id="4" name="Shape 2"/>
          <p:cNvSpPr/>
          <p:nvPr/>
        </p:nvSpPr>
        <p:spPr>
          <a:xfrm>
            <a:off x="0" y="0"/>
            <a:ext cx="91440" cy="960120"/>
          </a:xfrm>
          <a:prstGeom prst="rect">
            <a:avLst/>
          </a:prstGeom>
          <a:solidFill>
            <a:srgbClr val="D97706"/>
          </a:solidFill>
          <a:ln/>
        </p:spPr>
      </p:sp>
      <p:sp>
        <p:nvSpPr>
          <p:cNvPr id="5" name="Text 3"/>
          <p:cNvSpPr/>
          <p:nvPr/>
        </p:nvSpPr>
        <p:spPr>
          <a:xfrm>
            <a:off x="256032" y="109728"/>
            <a:ext cx="7315200" cy="457200"/>
          </a:xfrm>
          <a:prstGeom prst="rect">
            <a:avLst/>
          </a:prstGeom>
          <a:noFill/>
          <a:ln/>
        </p:spPr>
        <p:txBody>
          <a:bodyPr wrap="square" rtlCol="0" anchor="ctr"/>
          <a:lstStyle/>
          <a:p>
            <a:pPr indent="0" marL="0">
              <a:buNone/>
            </a:pPr>
            <a:r>
              <a:rPr lang="en-US" sz="2400" b="1" dirty="0">
                <a:solidFill>
                  <a:srgbClr val="FFFFFF"/>
                </a:solidFill>
              </a:rPr>
              <a:t>POC 1  —  Data Validation</a:t>
            </a:r>
            <a:endParaRPr lang="en-US" sz="2400" dirty="0"/>
          </a:p>
        </p:txBody>
      </p:sp>
      <p:sp>
        <p:nvSpPr>
          <p:cNvPr id="6" name="Text 4"/>
          <p:cNvSpPr/>
          <p:nvPr/>
        </p:nvSpPr>
        <p:spPr>
          <a:xfrm>
            <a:off x="256032" y="585216"/>
            <a:ext cx="8595360" cy="274320"/>
          </a:xfrm>
          <a:prstGeom prst="rect">
            <a:avLst/>
          </a:prstGeom>
          <a:noFill/>
          <a:ln/>
        </p:spPr>
        <p:txBody>
          <a:bodyPr wrap="square" rtlCol="0" anchor="ctr"/>
          <a:lstStyle/>
          <a:p>
            <a:pPr indent="0" marL="0">
              <a:buNone/>
            </a:pPr>
            <a:r>
              <a:rPr lang="en-US" sz="1000" dirty="0">
                <a:solidFill>
                  <a:srgbClr val="BDD8D8"/>
                </a:solidFill>
              </a:rPr>
              <a:t>MQ-6 · LM35 · ESP32</a:t>
            </a:r>
            <a:endParaRPr lang="en-US" sz="1000" dirty="0"/>
          </a:p>
        </p:txBody>
      </p:sp>
      <p:sp>
        <p:nvSpPr>
          <p:cNvPr id="7" name="Shape 5"/>
          <p:cNvSpPr/>
          <p:nvPr/>
        </p:nvSpPr>
        <p:spPr>
          <a:xfrm>
            <a:off x="274320" y="1115568"/>
            <a:ext cx="5120640" cy="310896"/>
          </a:xfrm>
          <a:prstGeom prst="rect">
            <a:avLst/>
          </a:prstGeom>
          <a:solidFill>
            <a:srgbClr val="92400E"/>
          </a:solidFill>
          <a:ln/>
        </p:spPr>
      </p:sp>
      <p:sp>
        <p:nvSpPr>
          <p:cNvPr id="8" name="Shape 6"/>
          <p:cNvSpPr/>
          <p:nvPr/>
        </p:nvSpPr>
        <p:spPr>
          <a:xfrm>
            <a:off x="274320" y="1115568"/>
            <a:ext cx="54864" cy="310896"/>
          </a:xfrm>
          <a:prstGeom prst="rect">
            <a:avLst/>
          </a:prstGeom>
          <a:solidFill>
            <a:srgbClr val="D97706"/>
          </a:solidFill>
          <a:ln/>
        </p:spPr>
      </p:sp>
      <p:sp>
        <p:nvSpPr>
          <p:cNvPr id="9" name="Text 7"/>
          <p:cNvSpPr/>
          <p:nvPr/>
        </p:nvSpPr>
        <p:spPr>
          <a:xfrm>
            <a:off x="402336" y="1115568"/>
            <a:ext cx="4937760" cy="310896"/>
          </a:xfrm>
          <a:prstGeom prst="rect">
            <a:avLst/>
          </a:prstGeom>
          <a:noFill/>
          <a:ln/>
        </p:spPr>
        <p:txBody>
          <a:bodyPr wrap="square" rtlCol="0" anchor="ctr"/>
          <a:lstStyle/>
          <a:p>
            <a:pPr indent="0" marL="0">
              <a:buNone/>
            </a:pPr>
            <a:r>
              <a:rPr lang="en-US" sz="1100" b="1" dirty="0">
                <a:solidFill>
                  <a:srgbClr val="FFFFFF"/>
                </a:solidFill>
              </a:rPr>
              <a:t>Objective</a:t>
            </a:r>
            <a:endParaRPr lang="en-US" sz="1100" dirty="0"/>
          </a:p>
        </p:txBody>
      </p:sp>
      <p:sp>
        <p:nvSpPr>
          <p:cNvPr id="10" name="Shape 8"/>
          <p:cNvSpPr/>
          <p:nvPr/>
        </p:nvSpPr>
        <p:spPr>
          <a:xfrm>
            <a:off x="274320" y="1426464"/>
            <a:ext cx="5120640" cy="658368"/>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1" name="Text 9"/>
          <p:cNvSpPr/>
          <p:nvPr/>
        </p:nvSpPr>
        <p:spPr>
          <a:xfrm>
            <a:off x="402336" y="1444752"/>
            <a:ext cx="4919472" cy="621792"/>
          </a:xfrm>
          <a:prstGeom prst="rect">
            <a:avLst/>
          </a:prstGeom>
          <a:noFill/>
          <a:ln/>
        </p:spPr>
        <p:txBody>
          <a:bodyPr wrap="square" rtlCol="0" anchor="ctr"/>
          <a:lstStyle/>
          <a:p>
            <a:pPr indent="0" marL="0">
              <a:buNone/>
            </a:pPr>
            <a:r>
              <a:rPr lang="en-US" sz="1050" dirty="0">
                <a:solidFill>
                  <a:srgbClr val="1E293B"/>
                </a:solidFill>
              </a:rPr>
              <a:t>Verify that the MQ-6 and LM35 sensors produce accurate readings, and that the ESP32 threshold logic correctly transitions from IDLE to ALERT when gas or temperature exceeds the safe limit.</a:t>
            </a:r>
            <a:endParaRPr lang="en-US" sz="1050" dirty="0"/>
          </a:p>
        </p:txBody>
      </p:sp>
      <p:sp>
        <p:nvSpPr>
          <p:cNvPr id="12" name="Shape 10"/>
          <p:cNvSpPr/>
          <p:nvPr/>
        </p:nvSpPr>
        <p:spPr>
          <a:xfrm>
            <a:off x="274320" y="2194560"/>
            <a:ext cx="5120640" cy="310896"/>
          </a:xfrm>
          <a:prstGeom prst="rect">
            <a:avLst/>
          </a:prstGeom>
          <a:solidFill>
            <a:srgbClr val="92400E"/>
          </a:solidFill>
          <a:ln/>
        </p:spPr>
      </p:sp>
      <p:sp>
        <p:nvSpPr>
          <p:cNvPr id="13" name="Shape 11"/>
          <p:cNvSpPr/>
          <p:nvPr/>
        </p:nvSpPr>
        <p:spPr>
          <a:xfrm>
            <a:off x="274320" y="2194560"/>
            <a:ext cx="54864" cy="310896"/>
          </a:xfrm>
          <a:prstGeom prst="rect">
            <a:avLst/>
          </a:prstGeom>
          <a:solidFill>
            <a:srgbClr val="D97706"/>
          </a:solidFill>
          <a:ln/>
        </p:spPr>
      </p:sp>
      <p:sp>
        <p:nvSpPr>
          <p:cNvPr id="14" name="Text 12"/>
          <p:cNvSpPr/>
          <p:nvPr/>
        </p:nvSpPr>
        <p:spPr>
          <a:xfrm>
            <a:off x="402336" y="2194560"/>
            <a:ext cx="4937760" cy="310896"/>
          </a:xfrm>
          <a:prstGeom prst="rect">
            <a:avLst/>
          </a:prstGeom>
          <a:noFill/>
          <a:ln/>
        </p:spPr>
        <p:txBody>
          <a:bodyPr wrap="square" rtlCol="0" anchor="ctr"/>
          <a:lstStyle/>
          <a:p>
            <a:pPr indent="0" marL="0">
              <a:buNone/>
            </a:pPr>
            <a:r>
              <a:rPr lang="en-US" sz="1100" b="1" dirty="0">
                <a:solidFill>
                  <a:srgbClr val="FFFFFF"/>
                </a:solidFill>
              </a:rPr>
              <a:t>Hardware Connections</a:t>
            </a:r>
            <a:endParaRPr lang="en-US" sz="1100" dirty="0"/>
          </a:p>
        </p:txBody>
      </p:sp>
      <p:sp>
        <p:nvSpPr>
          <p:cNvPr id="15" name="Shape 13"/>
          <p:cNvSpPr/>
          <p:nvPr/>
        </p:nvSpPr>
        <p:spPr>
          <a:xfrm>
            <a:off x="274320" y="2505456"/>
            <a:ext cx="5120640" cy="10058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6" name="Text 14"/>
          <p:cNvSpPr/>
          <p:nvPr/>
        </p:nvSpPr>
        <p:spPr>
          <a:xfrm>
            <a:off x="402336" y="2542032"/>
            <a:ext cx="4919472" cy="914400"/>
          </a:xfrm>
          <a:prstGeom prst="rect">
            <a:avLst/>
          </a:prstGeom>
          <a:noFill/>
          <a:ln/>
        </p:spPr>
        <p:txBody>
          <a:bodyPr wrap="square" rtlCol="0" anchor="ctr"/>
          <a:lstStyle/>
          <a:p>
            <a:pPr marL="342900" indent="-342900">
              <a:spcAft>
                <a:spcPts val="600"/>
              </a:spcAft>
              <a:buSzPct val="100000"/>
              <a:buChar char="•"/>
            </a:pPr>
            <a:r>
              <a:rPr lang="en-US" sz="1050" dirty="0">
                <a:solidFill>
                  <a:srgbClr val="1E293B"/>
                </a:solidFill>
              </a:rPr>
              <a:t>MQ-6 AOUT  →  ESP32 GPIO34 (ADC1_CH6)  |  VCC → 5V</a:t>
            </a:r>
            <a:endParaRPr lang="en-US" sz="1050" dirty="0"/>
          </a:p>
          <a:p>
            <a:pPr marL="342900" indent="-342900">
              <a:spcAft>
                <a:spcPts val="600"/>
              </a:spcAft>
              <a:buSzPct val="100000"/>
              <a:buChar char="•"/>
            </a:pPr>
            <a:r>
              <a:rPr lang="en-US" sz="1050" dirty="0">
                <a:solidFill>
                  <a:srgbClr val="1E293B"/>
                </a:solidFill>
              </a:rPr>
              <a:t>LM35 output  →  ESP32 GPIO35 (ADC1_CH7)  |  VCC → 3.3V</a:t>
            </a:r>
            <a:endParaRPr lang="en-US" sz="1050" dirty="0"/>
          </a:p>
          <a:p>
            <a:pPr marL="342900" indent="-342900">
              <a:spcAft>
                <a:spcPts val="600"/>
              </a:spcAft>
              <a:buSzPct val="100000"/>
              <a:buChar char="•"/>
            </a:pPr>
            <a:r>
              <a:rPr lang="en-US" sz="1050" dirty="0">
                <a:solidFill>
                  <a:srgbClr val="1E293B"/>
                </a:solidFill>
              </a:rPr>
              <a:t>Serial monitor at 115200 baud for live PPM and °C output</a:t>
            </a:r>
            <a:endParaRPr lang="en-US" sz="1050" dirty="0"/>
          </a:p>
        </p:txBody>
      </p:sp>
      <p:sp>
        <p:nvSpPr>
          <p:cNvPr id="17" name="Shape 15"/>
          <p:cNvSpPr/>
          <p:nvPr/>
        </p:nvSpPr>
        <p:spPr>
          <a:xfrm>
            <a:off x="274320" y="3621024"/>
            <a:ext cx="5120640" cy="310896"/>
          </a:xfrm>
          <a:prstGeom prst="rect">
            <a:avLst/>
          </a:prstGeom>
          <a:solidFill>
            <a:srgbClr val="92400E"/>
          </a:solidFill>
          <a:ln/>
        </p:spPr>
      </p:sp>
      <p:sp>
        <p:nvSpPr>
          <p:cNvPr id="18" name="Shape 16"/>
          <p:cNvSpPr/>
          <p:nvPr/>
        </p:nvSpPr>
        <p:spPr>
          <a:xfrm>
            <a:off x="274320" y="3621024"/>
            <a:ext cx="54864" cy="310896"/>
          </a:xfrm>
          <a:prstGeom prst="rect">
            <a:avLst/>
          </a:prstGeom>
          <a:solidFill>
            <a:srgbClr val="D97706"/>
          </a:solidFill>
          <a:ln/>
        </p:spPr>
      </p:sp>
      <p:sp>
        <p:nvSpPr>
          <p:cNvPr id="19" name="Text 17"/>
          <p:cNvSpPr/>
          <p:nvPr/>
        </p:nvSpPr>
        <p:spPr>
          <a:xfrm>
            <a:off x="402336" y="3621024"/>
            <a:ext cx="4937760" cy="310896"/>
          </a:xfrm>
          <a:prstGeom prst="rect">
            <a:avLst/>
          </a:prstGeom>
          <a:noFill/>
          <a:ln/>
        </p:spPr>
        <p:txBody>
          <a:bodyPr wrap="square" rtlCol="0" anchor="ctr"/>
          <a:lstStyle/>
          <a:p>
            <a:pPr indent="0" marL="0">
              <a:buNone/>
            </a:pPr>
            <a:r>
              <a:rPr lang="en-US" sz="1100" b="1" dirty="0">
                <a:solidFill>
                  <a:srgbClr val="FFFFFF"/>
                </a:solidFill>
              </a:rPr>
              <a:t>Test Steps</a:t>
            </a:r>
            <a:endParaRPr lang="en-US" sz="1100" dirty="0"/>
          </a:p>
        </p:txBody>
      </p:sp>
      <p:sp>
        <p:nvSpPr>
          <p:cNvPr id="20" name="Shape 18"/>
          <p:cNvSpPr/>
          <p:nvPr/>
        </p:nvSpPr>
        <p:spPr>
          <a:xfrm>
            <a:off x="274320" y="3931920"/>
            <a:ext cx="5120640" cy="1042416"/>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1" name="Text 19"/>
          <p:cNvSpPr/>
          <p:nvPr/>
        </p:nvSpPr>
        <p:spPr>
          <a:xfrm>
            <a:off x="402336" y="3968496"/>
            <a:ext cx="4919472" cy="950976"/>
          </a:xfrm>
          <a:prstGeom prst="rect">
            <a:avLst/>
          </a:prstGeom>
          <a:noFill/>
          <a:ln/>
        </p:spPr>
        <p:txBody>
          <a:bodyPr wrap="square" rtlCol="0" anchor="ctr"/>
          <a:lstStyle/>
          <a:p>
            <a:pPr marL="342900" indent="-342900">
              <a:spcAft>
                <a:spcPts val="600"/>
              </a:spcAft>
              <a:buSzPct val="100000"/>
              <a:buFont typeface="+mj-lt"/>
              <a:buAutoNum type="arabicPeriod" startAt="1"/>
            </a:pPr>
            <a:r>
              <a:rPr lang="en-US" sz="1050" dirty="0">
                <a:solidFill>
                  <a:srgbClr val="1E293B"/>
                </a:solidFill>
              </a:rPr>
              <a:t>Power on — allow 60s warm-up before readings are valid</a:t>
            </a:r>
            <a:endParaRPr lang="en-US" sz="1050" dirty="0"/>
          </a:p>
          <a:p>
            <a:pPr marL="342900" indent="-342900">
              <a:spcAft>
                <a:spcPts val="600"/>
              </a:spcAft>
              <a:buSzPct val="100000"/>
              <a:buFont typeface="+mj-lt"/>
              <a:buAutoNum type="arabicPeriod" startAt="1"/>
            </a:pPr>
            <a:r>
              <a:rPr lang="en-US" sz="1050" dirty="0">
                <a:solidFill>
                  <a:srgbClr val="1E293B"/>
                </a:solidFill>
              </a:rPr>
              <a:t>Check baseline: PPM &lt; 300 ppm in clean air, temp ~25°C</a:t>
            </a:r>
            <a:endParaRPr lang="en-US" sz="1050" dirty="0"/>
          </a:p>
          <a:p>
            <a:pPr marL="342900" indent="-342900">
              <a:spcAft>
                <a:spcPts val="600"/>
              </a:spcAft>
              <a:buSzPct val="100000"/>
              <a:buFont typeface="+mj-lt"/>
              <a:buAutoNum type="arabicPeriod" startAt="1"/>
            </a:pPr>
            <a:r>
              <a:rPr lang="en-US" sz="1050" dirty="0">
                <a:solidFill>
                  <a:srgbClr val="1E293B"/>
                </a:solidFill>
              </a:rPr>
              <a:t>Introduce LPG near sensor — confirm PPM rises on serial monitor</a:t>
            </a:r>
            <a:endParaRPr lang="en-US" sz="1050" dirty="0"/>
          </a:p>
          <a:p>
            <a:pPr marL="342900" indent="-342900">
              <a:spcAft>
                <a:spcPts val="600"/>
              </a:spcAft>
              <a:buSzPct val="100000"/>
              <a:buFont typeface="+mj-lt"/>
              <a:buAutoNum type="arabicPeriod" startAt="1"/>
            </a:pPr>
            <a:r>
              <a:rPr lang="en-US" sz="1050" dirty="0">
                <a:solidFill>
                  <a:srgbClr val="1E293B"/>
                </a:solidFill>
              </a:rPr>
              <a:t>Verify ALERT state triggers when PPM crosses 500 ppm</a:t>
            </a:r>
            <a:endParaRPr lang="en-US" sz="1050" dirty="0"/>
          </a:p>
        </p:txBody>
      </p:sp>
      <p:sp>
        <p:nvSpPr>
          <p:cNvPr id="22" name="Shape 20"/>
          <p:cNvSpPr/>
          <p:nvPr/>
        </p:nvSpPr>
        <p:spPr>
          <a:xfrm>
            <a:off x="5577840" y="1115568"/>
            <a:ext cx="3337560" cy="310896"/>
          </a:xfrm>
          <a:prstGeom prst="rect">
            <a:avLst/>
          </a:prstGeom>
          <a:solidFill>
            <a:srgbClr val="92400E"/>
          </a:solidFill>
          <a:ln/>
        </p:spPr>
      </p:sp>
      <p:sp>
        <p:nvSpPr>
          <p:cNvPr id="23" name="Shape 21"/>
          <p:cNvSpPr/>
          <p:nvPr/>
        </p:nvSpPr>
        <p:spPr>
          <a:xfrm>
            <a:off x="5577840" y="1115568"/>
            <a:ext cx="54864" cy="310896"/>
          </a:xfrm>
          <a:prstGeom prst="rect">
            <a:avLst/>
          </a:prstGeom>
          <a:solidFill>
            <a:srgbClr val="D97706"/>
          </a:solidFill>
          <a:ln/>
        </p:spPr>
      </p:sp>
      <p:sp>
        <p:nvSpPr>
          <p:cNvPr id="24" name="Text 22"/>
          <p:cNvSpPr/>
          <p:nvPr/>
        </p:nvSpPr>
        <p:spPr>
          <a:xfrm>
            <a:off x="5705856" y="1115568"/>
            <a:ext cx="3154680" cy="310896"/>
          </a:xfrm>
          <a:prstGeom prst="rect">
            <a:avLst/>
          </a:prstGeom>
          <a:noFill/>
          <a:ln/>
        </p:spPr>
        <p:txBody>
          <a:bodyPr wrap="square" rtlCol="0" anchor="ctr"/>
          <a:lstStyle/>
          <a:p>
            <a:pPr indent="0" marL="0">
              <a:buNone/>
            </a:pPr>
            <a:r>
              <a:rPr lang="en-US" sz="1100" b="1" dirty="0">
                <a:solidFill>
                  <a:srgbClr val="FFFFFF"/>
                </a:solidFill>
              </a:rPr>
              <a:t>Key Parameters</a:t>
            </a:r>
            <a:endParaRPr lang="en-US" sz="1100" dirty="0"/>
          </a:p>
        </p:txBody>
      </p:sp>
      <p:sp>
        <p:nvSpPr>
          <p:cNvPr id="25" name="Shape 23"/>
          <p:cNvSpPr/>
          <p:nvPr/>
        </p:nvSpPr>
        <p:spPr>
          <a:xfrm>
            <a:off x="5577840" y="1426464"/>
            <a:ext cx="3337560" cy="1426464"/>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6" name="Shape 24"/>
          <p:cNvSpPr/>
          <p:nvPr/>
        </p:nvSpPr>
        <p:spPr>
          <a:xfrm>
            <a:off x="5577840" y="1426464"/>
            <a:ext cx="3337560" cy="283464"/>
          </a:xfrm>
          <a:prstGeom prst="rect">
            <a:avLst/>
          </a:prstGeom>
          <a:solidFill>
            <a:srgbClr val="FEF3C7"/>
          </a:solidFill>
          <a:ln/>
        </p:spPr>
      </p:sp>
      <p:sp>
        <p:nvSpPr>
          <p:cNvPr id="27" name="Text 25"/>
          <p:cNvSpPr/>
          <p:nvPr/>
        </p:nvSpPr>
        <p:spPr>
          <a:xfrm>
            <a:off x="5687568" y="1426464"/>
            <a:ext cx="1280160" cy="283464"/>
          </a:xfrm>
          <a:prstGeom prst="rect">
            <a:avLst/>
          </a:prstGeom>
          <a:noFill/>
          <a:ln/>
        </p:spPr>
        <p:txBody>
          <a:bodyPr wrap="square" rtlCol="0" anchor="ctr"/>
          <a:lstStyle/>
          <a:p>
            <a:pPr indent="0" marL="0">
              <a:buNone/>
            </a:pPr>
            <a:r>
              <a:rPr lang="en-US" sz="950" b="1" dirty="0">
                <a:solidFill>
                  <a:srgbClr val="92400E"/>
                </a:solidFill>
              </a:rPr>
              <a:t>ADC</a:t>
            </a:r>
            <a:endParaRPr lang="en-US" sz="950" dirty="0"/>
          </a:p>
        </p:txBody>
      </p:sp>
      <p:sp>
        <p:nvSpPr>
          <p:cNvPr id="28" name="Text 26"/>
          <p:cNvSpPr/>
          <p:nvPr/>
        </p:nvSpPr>
        <p:spPr>
          <a:xfrm>
            <a:off x="6995160" y="1426464"/>
            <a:ext cx="1828800" cy="283464"/>
          </a:xfrm>
          <a:prstGeom prst="rect">
            <a:avLst/>
          </a:prstGeom>
          <a:noFill/>
          <a:ln/>
        </p:spPr>
        <p:txBody>
          <a:bodyPr wrap="square" rtlCol="0" anchor="ctr"/>
          <a:lstStyle/>
          <a:p>
            <a:pPr indent="0" marL="0">
              <a:buNone/>
            </a:pPr>
            <a:r>
              <a:rPr lang="en-US" sz="950" dirty="0">
                <a:solidFill>
                  <a:srgbClr val="1E293B"/>
                </a:solidFill>
              </a:rPr>
              <a:t>12-bit, 0–3.3V</a:t>
            </a:r>
            <a:endParaRPr lang="en-US" sz="950" dirty="0"/>
          </a:p>
        </p:txBody>
      </p:sp>
      <p:sp>
        <p:nvSpPr>
          <p:cNvPr id="29" name="Shape 27"/>
          <p:cNvSpPr/>
          <p:nvPr/>
        </p:nvSpPr>
        <p:spPr>
          <a:xfrm>
            <a:off x="5577840" y="1709928"/>
            <a:ext cx="3337560" cy="283464"/>
          </a:xfrm>
          <a:prstGeom prst="rect">
            <a:avLst/>
          </a:prstGeom>
          <a:solidFill>
            <a:srgbClr val="FFFFFF"/>
          </a:solidFill>
          <a:ln/>
        </p:spPr>
      </p:sp>
      <p:sp>
        <p:nvSpPr>
          <p:cNvPr id="30" name="Text 28"/>
          <p:cNvSpPr/>
          <p:nvPr/>
        </p:nvSpPr>
        <p:spPr>
          <a:xfrm>
            <a:off x="5687568" y="1709928"/>
            <a:ext cx="1280160" cy="283464"/>
          </a:xfrm>
          <a:prstGeom prst="rect">
            <a:avLst/>
          </a:prstGeom>
          <a:noFill/>
          <a:ln/>
        </p:spPr>
        <p:txBody>
          <a:bodyPr wrap="square" rtlCol="0" anchor="ctr"/>
          <a:lstStyle/>
          <a:p>
            <a:pPr indent="0" marL="0">
              <a:buNone/>
            </a:pPr>
            <a:r>
              <a:rPr lang="en-US" sz="950" b="1" dirty="0">
                <a:solidFill>
                  <a:srgbClr val="92400E"/>
                </a:solidFill>
              </a:rPr>
              <a:t>PPM</a:t>
            </a:r>
            <a:endParaRPr lang="en-US" sz="950" dirty="0"/>
          </a:p>
        </p:txBody>
      </p:sp>
      <p:sp>
        <p:nvSpPr>
          <p:cNvPr id="31" name="Text 29"/>
          <p:cNvSpPr/>
          <p:nvPr/>
        </p:nvSpPr>
        <p:spPr>
          <a:xfrm>
            <a:off x="6995160" y="1709928"/>
            <a:ext cx="1828800" cy="283464"/>
          </a:xfrm>
          <a:prstGeom prst="rect">
            <a:avLst/>
          </a:prstGeom>
          <a:noFill/>
          <a:ln/>
        </p:spPr>
        <p:txBody>
          <a:bodyPr wrap="square" rtlCol="0" anchor="ctr"/>
          <a:lstStyle/>
          <a:p>
            <a:pPr indent="0" marL="0">
              <a:buNone/>
            </a:pPr>
            <a:r>
              <a:rPr lang="en-US" sz="950" dirty="0">
                <a:solidFill>
                  <a:srgbClr val="1E293B"/>
                </a:solidFill>
              </a:rPr>
              <a:t>Vcurrent / Vclean × ref</a:t>
            </a:r>
            <a:endParaRPr lang="en-US" sz="950" dirty="0"/>
          </a:p>
        </p:txBody>
      </p:sp>
      <p:sp>
        <p:nvSpPr>
          <p:cNvPr id="32" name="Shape 30"/>
          <p:cNvSpPr/>
          <p:nvPr/>
        </p:nvSpPr>
        <p:spPr>
          <a:xfrm>
            <a:off x="5577840" y="1993392"/>
            <a:ext cx="3337560" cy="283464"/>
          </a:xfrm>
          <a:prstGeom prst="rect">
            <a:avLst/>
          </a:prstGeom>
          <a:solidFill>
            <a:srgbClr val="FEF3C7"/>
          </a:solidFill>
          <a:ln/>
        </p:spPr>
      </p:sp>
      <p:sp>
        <p:nvSpPr>
          <p:cNvPr id="33" name="Text 31"/>
          <p:cNvSpPr/>
          <p:nvPr/>
        </p:nvSpPr>
        <p:spPr>
          <a:xfrm>
            <a:off x="5687568" y="1993392"/>
            <a:ext cx="1280160" cy="283464"/>
          </a:xfrm>
          <a:prstGeom prst="rect">
            <a:avLst/>
          </a:prstGeom>
          <a:noFill/>
          <a:ln/>
        </p:spPr>
        <p:txBody>
          <a:bodyPr wrap="square" rtlCol="0" anchor="ctr"/>
          <a:lstStyle/>
          <a:p>
            <a:pPr indent="0" marL="0">
              <a:buNone/>
            </a:pPr>
            <a:r>
              <a:rPr lang="en-US" sz="950" b="1" dirty="0">
                <a:solidFill>
                  <a:srgbClr val="92400E"/>
                </a:solidFill>
              </a:rPr>
              <a:t>LM35</a:t>
            </a:r>
            <a:endParaRPr lang="en-US" sz="950" dirty="0"/>
          </a:p>
        </p:txBody>
      </p:sp>
      <p:sp>
        <p:nvSpPr>
          <p:cNvPr id="34" name="Text 32"/>
          <p:cNvSpPr/>
          <p:nvPr/>
        </p:nvSpPr>
        <p:spPr>
          <a:xfrm>
            <a:off x="6995160" y="1993392"/>
            <a:ext cx="1828800" cy="283464"/>
          </a:xfrm>
          <a:prstGeom prst="rect">
            <a:avLst/>
          </a:prstGeom>
          <a:noFill/>
          <a:ln/>
        </p:spPr>
        <p:txBody>
          <a:bodyPr wrap="square" rtlCol="0" anchor="ctr"/>
          <a:lstStyle/>
          <a:p>
            <a:pPr indent="0" marL="0">
              <a:buNone/>
            </a:pPr>
            <a:r>
              <a:rPr lang="en-US" sz="950" dirty="0">
                <a:solidFill>
                  <a:srgbClr val="1E293B"/>
                </a:solidFill>
              </a:rPr>
              <a:t>10 mV / °C</a:t>
            </a:r>
            <a:endParaRPr lang="en-US" sz="950" dirty="0"/>
          </a:p>
        </p:txBody>
      </p:sp>
      <p:sp>
        <p:nvSpPr>
          <p:cNvPr id="35" name="Shape 33"/>
          <p:cNvSpPr/>
          <p:nvPr/>
        </p:nvSpPr>
        <p:spPr>
          <a:xfrm>
            <a:off x="5577840" y="2276856"/>
            <a:ext cx="3337560" cy="283464"/>
          </a:xfrm>
          <a:prstGeom prst="rect">
            <a:avLst/>
          </a:prstGeom>
          <a:solidFill>
            <a:srgbClr val="FFFFFF"/>
          </a:solidFill>
          <a:ln/>
        </p:spPr>
      </p:sp>
      <p:sp>
        <p:nvSpPr>
          <p:cNvPr id="36" name="Text 34"/>
          <p:cNvSpPr/>
          <p:nvPr/>
        </p:nvSpPr>
        <p:spPr>
          <a:xfrm>
            <a:off x="5687568" y="2276856"/>
            <a:ext cx="1280160" cy="283464"/>
          </a:xfrm>
          <a:prstGeom prst="rect">
            <a:avLst/>
          </a:prstGeom>
          <a:noFill/>
          <a:ln/>
        </p:spPr>
        <p:txBody>
          <a:bodyPr wrap="square" rtlCol="0" anchor="ctr"/>
          <a:lstStyle/>
          <a:p>
            <a:pPr indent="0" marL="0">
              <a:buNone/>
            </a:pPr>
            <a:r>
              <a:rPr lang="en-US" sz="950" b="1" dirty="0">
                <a:solidFill>
                  <a:srgbClr val="92400E"/>
                </a:solidFill>
              </a:rPr>
              <a:t>Gas threshold</a:t>
            </a:r>
            <a:endParaRPr lang="en-US" sz="950" dirty="0"/>
          </a:p>
        </p:txBody>
      </p:sp>
      <p:sp>
        <p:nvSpPr>
          <p:cNvPr id="37" name="Text 35"/>
          <p:cNvSpPr/>
          <p:nvPr/>
        </p:nvSpPr>
        <p:spPr>
          <a:xfrm>
            <a:off x="6995160" y="2276856"/>
            <a:ext cx="1828800" cy="283464"/>
          </a:xfrm>
          <a:prstGeom prst="rect">
            <a:avLst/>
          </a:prstGeom>
          <a:noFill/>
          <a:ln/>
        </p:spPr>
        <p:txBody>
          <a:bodyPr wrap="square" rtlCol="0" anchor="ctr"/>
          <a:lstStyle/>
          <a:p>
            <a:pPr indent="0" marL="0">
              <a:buNone/>
            </a:pPr>
            <a:r>
              <a:rPr lang="en-US" sz="950" dirty="0">
                <a:solidFill>
                  <a:srgbClr val="1E293B"/>
                </a:solidFill>
              </a:rPr>
              <a:t>500 ppm</a:t>
            </a:r>
            <a:endParaRPr lang="en-US" sz="950" dirty="0"/>
          </a:p>
        </p:txBody>
      </p:sp>
      <p:sp>
        <p:nvSpPr>
          <p:cNvPr id="38" name="Shape 36"/>
          <p:cNvSpPr/>
          <p:nvPr/>
        </p:nvSpPr>
        <p:spPr>
          <a:xfrm>
            <a:off x="5577840" y="2560320"/>
            <a:ext cx="3337560" cy="283464"/>
          </a:xfrm>
          <a:prstGeom prst="rect">
            <a:avLst/>
          </a:prstGeom>
          <a:solidFill>
            <a:srgbClr val="FEF3C7"/>
          </a:solidFill>
          <a:ln/>
        </p:spPr>
      </p:sp>
      <p:sp>
        <p:nvSpPr>
          <p:cNvPr id="39" name="Text 37"/>
          <p:cNvSpPr/>
          <p:nvPr/>
        </p:nvSpPr>
        <p:spPr>
          <a:xfrm>
            <a:off x="5687568" y="2560320"/>
            <a:ext cx="1280160" cy="283464"/>
          </a:xfrm>
          <a:prstGeom prst="rect">
            <a:avLst/>
          </a:prstGeom>
          <a:noFill/>
          <a:ln/>
        </p:spPr>
        <p:txBody>
          <a:bodyPr wrap="square" rtlCol="0" anchor="ctr"/>
          <a:lstStyle/>
          <a:p>
            <a:pPr indent="0" marL="0">
              <a:buNone/>
            </a:pPr>
            <a:r>
              <a:rPr lang="en-US" sz="950" b="1" dirty="0">
                <a:solidFill>
                  <a:srgbClr val="92400E"/>
                </a:solidFill>
              </a:rPr>
              <a:t>Temp threshold</a:t>
            </a:r>
            <a:endParaRPr lang="en-US" sz="950" dirty="0"/>
          </a:p>
        </p:txBody>
      </p:sp>
      <p:sp>
        <p:nvSpPr>
          <p:cNvPr id="40" name="Text 38"/>
          <p:cNvSpPr/>
          <p:nvPr/>
        </p:nvSpPr>
        <p:spPr>
          <a:xfrm>
            <a:off x="6995160" y="2560320"/>
            <a:ext cx="1828800" cy="283464"/>
          </a:xfrm>
          <a:prstGeom prst="rect">
            <a:avLst/>
          </a:prstGeom>
          <a:noFill/>
          <a:ln/>
        </p:spPr>
        <p:txBody>
          <a:bodyPr wrap="square" rtlCol="0" anchor="ctr"/>
          <a:lstStyle/>
          <a:p>
            <a:pPr indent="0" marL="0">
              <a:buNone/>
            </a:pPr>
            <a:r>
              <a:rPr lang="en-US" sz="950" dirty="0">
                <a:solidFill>
                  <a:srgbClr val="1E293B"/>
                </a:solidFill>
              </a:rPr>
              <a:t>55 °C</a:t>
            </a:r>
            <a:endParaRPr lang="en-US" sz="950" dirty="0"/>
          </a:p>
        </p:txBody>
      </p:sp>
      <p:sp>
        <p:nvSpPr>
          <p:cNvPr id="41" name="Shape 39"/>
          <p:cNvSpPr/>
          <p:nvPr/>
        </p:nvSpPr>
        <p:spPr>
          <a:xfrm>
            <a:off x="5577840" y="2944368"/>
            <a:ext cx="3337560" cy="310896"/>
          </a:xfrm>
          <a:prstGeom prst="rect">
            <a:avLst/>
          </a:prstGeom>
          <a:solidFill>
            <a:srgbClr val="15803D"/>
          </a:solidFill>
          <a:ln/>
        </p:spPr>
      </p:sp>
      <p:sp>
        <p:nvSpPr>
          <p:cNvPr id="42" name="Shape 40"/>
          <p:cNvSpPr/>
          <p:nvPr/>
        </p:nvSpPr>
        <p:spPr>
          <a:xfrm>
            <a:off x="5577840" y="2944368"/>
            <a:ext cx="54864" cy="310896"/>
          </a:xfrm>
          <a:prstGeom prst="rect">
            <a:avLst/>
          </a:prstGeom>
          <a:solidFill>
            <a:srgbClr val="15803D"/>
          </a:solidFill>
          <a:ln/>
        </p:spPr>
      </p:sp>
      <p:sp>
        <p:nvSpPr>
          <p:cNvPr id="43" name="Text 41"/>
          <p:cNvSpPr/>
          <p:nvPr/>
        </p:nvSpPr>
        <p:spPr>
          <a:xfrm>
            <a:off x="5705856" y="2944368"/>
            <a:ext cx="3154680" cy="310896"/>
          </a:xfrm>
          <a:prstGeom prst="rect">
            <a:avLst/>
          </a:prstGeom>
          <a:noFill/>
          <a:ln/>
        </p:spPr>
        <p:txBody>
          <a:bodyPr wrap="square" rtlCol="0" anchor="ctr"/>
          <a:lstStyle/>
          <a:p>
            <a:pPr indent="0" marL="0">
              <a:buNone/>
            </a:pPr>
            <a:r>
              <a:rPr lang="en-US" sz="1100" b="1" dirty="0">
                <a:solidFill>
                  <a:srgbClr val="FFFFFF"/>
                </a:solidFill>
              </a:rPr>
              <a:t>Pass Criteria</a:t>
            </a:r>
            <a:endParaRPr lang="en-US" sz="1100" dirty="0"/>
          </a:p>
        </p:txBody>
      </p:sp>
      <p:sp>
        <p:nvSpPr>
          <p:cNvPr id="44" name="Shape 42"/>
          <p:cNvSpPr/>
          <p:nvPr/>
        </p:nvSpPr>
        <p:spPr>
          <a:xfrm>
            <a:off x="5577840" y="3255264"/>
            <a:ext cx="3337560" cy="804672"/>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45" name="Text 43"/>
          <p:cNvSpPr/>
          <p:nvPr/>
        </p:nvSpPr>
        <p:spPr>
          <a:xfrm>
            <a:off x="5705856" y="3291840"/>
            <a:ext cx="3136392" cy="713232"/>
          </a:xfrm>
          <a:prstGeom prst="rect">
            <a:avLst/>
          </a:prstGeom>
          <a:noFill/>
          <a:ln/>
        </p:spPr>
        <p:txBody>
          <a:bodyPr wrap="square" rtlCol="0" anchor="ctr"/>
          <a:lstStyle/>
          <a:p>
            <a:pPr marL="342900" indent="-342900">
              <a:spcAft>
                <a:spcPts val="600"/>
              </a:spcAft>
              <a:buSzPct val="100000"/>
              <a:buChar char="•"/>
            </a:pPr>
            <a:r>
              <a:rPr lang="en-US" sz="1000" dirty="0">
                <a:solidFill>
                  <a:srgbClr val="1E293B"/>
                </a:solidFill>
              </a:rPr>
              <a:t>PPM rises measurably when gas is introduced</a:t>
            </a:r>
            <a:endParaRPr lang="en-US" sz="1000" dirty="0"/>
          </a:p>
          <a:p>
            <a:pPr marL="342900" indent="-342900">
              <a:spcAft>
                <a:spcPts val="600"/>
              </a:spcAft>
              <a:buSzPct val="100000"/>
              <a:buChar char="•"/>
            </a:pPr>
            <a:r>
              <a:rPr lang="en-US" sz="1000" dirty="0">
                <a:solidFill>
                  <a:srgbClr val="1E293B"/>
                </a:solidFill>
              </a:rPr>
              <a:t>ALERT triggers reliably at 500 ppm threshold</a:t>
            </a:r>
            <a:endParaRPr lang="en-US" sz="1000" dirty="0"/>
          </a:p>
          <a:p>
            <a:pPr marL="342900" indent="-342900">
              <a:spcAft>
                <a:spcPts val="600"/>
              </a:spcAft>
              <a:buSzPct val="100000"/>
              <a:buChar char="•"/>
            </a:pPr>
            <a:r>
              <a:rPr lang="en-US" sz="1000" dirty="0">
                <a:solidFill>
                  <a:srgbClr val="1E293B"/>
                </a:solidFill>
              </a:rPr>
              <a:t>No false triggers in 10-min clean-air test</a:t>
            </a:r>
            <a:endParaRPr lang="en-US" sz="1000" dirty="0"/>
          </a:p>
        </p:txBody>
      </p:sp>
      <p:sp>
        <p:nvSpPr>
          <p:cNvPr id="46" name="Shape 44"/>
          <p:cNvSpPr/>
          <p:nvPr/>
        </p:nvSpPr>
        <p:spPr>
          <a:xfrm>
            <a:off x="5577840" y="4169664"/>
            <a:ext cx="3337560" cy="310896"/>
          </a:xfrm>
          <a:prstGeom prst="rect">
            <a:avLst/>
          </a:prstGeom>
          <a:solidFill>
            <a:srgbClr val="92400E"/>
          </a:solidFill>
          <a:ln/>
        </p:spPr>
      </p:sp>
      <p:sp>
        <p:nvSpPr>
          <p:cNvPr id="47" name="Shape 45"/>
          <p:cNvSpPr/>
          <p:nvPr/>
        </p:nvSpPr>
        <p:spPr>
          <a:xfrm>
            <a:off x="5577840" y="4169664"/>
            <a:ext cx="54864" cy="310896"/>
          </a:xfrm>
          <a:prstGeom prst="rect">
            <a:avLst/>
          </a:prstGeom>
          <a:solidFill>
            <a:srgbClr val="D97706"/>
          </a:solidFill>
          <a:ln/>
        </p:spPr>
      </p:sp>
      <p:sp>
        <p:nvSpPr>
          <p:cNvPr id="48" name="Text 46"/>
          <p:cNvSpPr/>
          <p:nvPr/>
        </p:nvSpPr>
        <p:spPr>
          <a:xfrm>
            <a:off x="5705856" y="4169664"/>
            <a:ext cx="3154680" cy="310896"/>
          </a:xfrm>
          <a:prstGeom prst="rect">
            <a:avLst/>
          </a:prstGeom>
          <a:noFill/>
          <a:ln/>
        </p:spPr>
        <p:txBody>
          <a:bodyPr wrap="square" rtlCol="0" anchor="ctr"/>
          <a:lstStyle/>
          <a:p>
            <a:pPr indent="0" marL="0">
              <a:buNone/>
            </a:pPr>
            <a:r>
              <a:rPr lang="en-US" sz="1100" b="1" dirty="0">
                <a:solidFill>
                  <a:srgbClr val="FFFFFF"/>
                </a:solidFill>
              </a:rPr>
              <a:t>State Machine</a:t>
            </a:r>
            <a:endParaRPr lang="en-US" sz="1100" dirty="0"/>
          </a:p>
        </p:txBody>
      </p:sp>
      <p:sp>
        <p:nvSpPr>
          <p:cNvPr id="49" name="Shape 47"/>
          <p:cNvSpPr/>
          <p:nvPr/>
        </p:nvSpPr>
        <p:spPr>
          <a:xfrm>
            <a:off x="5577840" y="4480560"/>
            <a:ext cx="3337560" cy="493776"/>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50" name="Shape 48"/>
          <p:cNvSpPr/>
          <p:nvPr/>
        </p:nvSpPr>
        <p:spPr>
          <a:xfrm>
            <a:off x="5705856" y="4498848"/>
            <a:ext cx="972312" cy="329184"/>
          </a:xfrm>
          <a:prstGeom prst="rect">
            <a:avLst/>
          </a:prstGeom>
          <a:solidFill>
            <a:srgbClr val="15803D"/>
          </a:solidFill>
          <a:ln/>
        </p:spPr>
      </p:sp>
      <p:sp>
        <p:nvSpPr>
          <p:cNvPr id="51" name="Text 49"/>
          <p:cNvSpPr/>
          <p:nvPr/>
        </p:nvSpPr>
        <p:spPr>
          <a:xfrm>
            <a:off x="5705856" y="4498848"/>
            <a:ext cx="972312" cy="329184"/>
          </a:xfrm>
          <a:prstGeom prst="rect">
            <a:avLst/>
          </a:prstGeom>
          <a:noFill/>
          <a:ln/>
        </p:spPr>
        <p:txBody>
          <a:bodyPr wrap="square" lIns="0" tIns="0" rIns="0" bIns="0" rtlCol="0" anchor="ctr"/>
          <a:lstStyle/>
          <a:p>
            <a:pPr algn="ctr" indent="0" marL="0">
              <a:buNone/>
            </a:pPr>
            <a:r>
              <a:rPr lang="en-US" sz="1000" b="1" dirty="0">
                <a:solidFill>
                  <a:srgbClr val="FFFFFF"/>
                </a:solidFill>
              </a:rPr>
              <a:t>IDLE</a:t>
            </a:r>
            <a:endParaRPr lang="en-US" sz="1000" dirty="0"/>
          </a:p>
        </p:txBody>
      </p:sp>
      <p:sp>
        <p:nvSpPr>
          <p:cNvPr id="52" name="Shape 50"/>
          <p:cNvSpPr/>
          <p:nvPr/>
        </p:nvSpPr>
        <p:spPr>
          <a:xfrm>
            <a:off x="6733032" y="4498848"/>
            <a:ext cx="972312" cy="329184"/>
          </a:xfrm>
          <a:prstGeom prst="rect">
            <a:avLst/>
          </a:prstGeom>
          <a:solidFill>
            <a:srgbClr val="D97706"/>
          </a:solidFill>
          <a:ln/>
        </p:spPr>
      </p:sp>
      <p:sp>
        <p:nvSpPr>
          <p:cNvPr id="53" name="Text 51"/>
          <p:cNvSpPr/>
          <p:nvPr/>
        </p:nvSpPr>
        <p:spPr>
          <a:xfrm>
            <a:off x="6733032" y="4498848"/>
            <a:ext cx="972312" cy="329184"/>
          </a:xfrm>
          <a:prstGeom prst="rect">
            <a:avLst/>
          </a:prstGeom>
          <a:noFill/>
          <a:ln/>
        </p:spPr>
        <p:txBody>
          <a:bodyPr wrap="square" lIns="0" tIns="0" rIns="0" bIns="0" rtlCol="0" anchor="ctr"/>
          <a:lstStyle/>
          <a:p>
            <a:pPr algn="ctr" indent="0" marL="0">
              <a:buNone/>
            </a:pPr>
            <a:r>
              <a:rPr lang="en-US" sz="1000" b="1" dirty="0">
                <a:solidFill>
                  <a:srgbClr val="FFFFFF"/>
                </a:solidFill>
              </a:rPr>
              <a:t>ALERT</a:t>
            </a:r>
            <a:endParaRPr lang="en-US" sz="1000" dirty="0"/>
          </a:p>
        </p:txBody>
      </p:sp>
      <p:sp>
        <p:nvSpPr>
          <p:cNvPr id="54" name="Shape 52"/>
          <p:cNvSpPr/>
          <p:nvPr/>
        </p:nvSpPr>
        <p:spPr>
          <a:xfrm>
            <a:off x="7760208" y="4498848"/>
            <a:ext cx="972312" cy="329184"/>
          </a:xfrm>
          <a:prstGeom prst="rect">
            <a:avLst/>
          </a:prstGeom>
          <a:solidFill>
            <a:srgbClr val="0A5540"/>
          </a:solidFill>
          <a:ln/>
        </p:spPr>
      </p:sp>
      <p:sp>
        <p:nvSpPr>
          <p:cNvPr id="55" name="Text 53"/>
          <p:cNvSpPr/>
          <p:nvPr/>
        </p:nvSpPr>
        <p:spPr>
          <a:xfrm>
            <a:off x="7760208" y="4498848"/>
            <a:ext cx="972312" cy="329184"/>
          </a:xfrm>
          <a:prstGeom prst="rect">
            <a:avLst/>
          </a:prstGeom>
          <a:noFill/>
          <a:ln/>
        </p:spPr>
        <p:txBody>
          <a:bodyPr wrap="square" lIns="0" tIns="0" rIns="0" bIns="0" rtlCol="0" anchor="ctr"/>
          <a:lstStyle/>
          <a:p>
            <a:pPr algn="ctr" indent="0" marL="0">
              <a:buNone/>
            </a:pPr>
            <a:r>
              <a:rPr lang="en-US" sz="1000" b="1" dirty="0">
                <a:solidFill>
                  <a:srgbClr val="FFFFFF"/>
                </a:solidFill>
              </a:rPr>
              <a:t>SAFE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7"/>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E3A8A"/>
          </a:solidFill>
          <a:ln/>
        </p:spPr>
      </p:sp>
      <p:sp>
        <p:nvSpPr>
          <p:cNvPr id="3" name="Shape 1"/>
          <p:cNvSpPr/>
          <p:nvPr/>
        </p:nvSpPr>
        <p:spPr>
          <a:xfrm>
            <a:off x="0" y="960120"/>
            <a:ext cx="9144000" cy="50292"/>
          </a:xfrm>
          <a:prstGeom prst="rect">
            <a:avLst/>
          </a:prstGeom>
          <a:solidFill>
            <a:srgbClr val="1D4ED8"/>
          </a:solidFill>
          <a:ln/>
        </p:spPr>
      </p:sp>
      <p:sp>
        <p:nvSpPr>
          <p:cNvPr id="4" name="Shape 2"/>
          <p:cNvSpPr/>
          <p:nvPr/>
        </p:nvSpPr>
        <p:spPr>
          <a:xfrm>
            <a:off x="0" y="0"/>
            <a:ext cx="91440" cy="960120"/>
          </a:xfrm>
          <a:prstGeom prst="rect">
            <a:avLst/>
          </a:prstGeom>
          <a:solidFill>
            <a:srgbClr val="1D4ED8"/>
          </a:solidFill>
          <a:ln/>
        </p:spPr>
      </p:sp>
      <p:sp>
        <p:nvSpPr>
          <p:cNvPr id="5" name="Text 3"/>
          <p:cNvSpPr/>
          <p:nvPr/>
        </p:nvSpPr>
        <p:spPr>
          <a:xfrm>
            <a:off x="256032" y="109728"/>
            <a:ext cx="7315200" cy="457200"/>
          </a:xfrm>
          <a:prstGeom prst="rect">
            <a:avLst/>
          </a:prstGeom>
          <a:noFill/>
          <a:ln/>
        </p:spPr>
        <p:txBody>
          <a:bodyPr wrap="square" rtlCol="0" anchor="ctr"/>
          <a:lstStyle/>
          <a:p>
            <a:pPr indent="0" marL="0">
              <a:buNone/>
            </a:pPr>
            <a:r>
              <a:rPr lang="en-US" sz="2400" b="1" dirty="0">
                <a:solidFill>
                  <a:srgbClr val="FFFFFF"/>
                </a:solidFill>
              </a:rPr>
              <a:t>POC 2  —  Control Logic</a:t>
            </a:r>
            <a:endParaRPr lang="en-US" sz="2400" dirty="0"/>
          </a:p>
        </p:txBody>
      </p:sp>
      <p:sp>
        <p:nvSpPr>
          <p:cNvPr id="6" name="Text 4"/>
          <p:cNvSpPr/>
          <p:nvPr/>
        </p:nvSpPr>
        <p:spPr>
          <a:xfrm>
            <a:off x="256032" y="585216"/>
            <a:ext cx="8595360" cy="274320"/>
          </a:xfrm>
          <a:prstGeom prst="rect">
            <a:avLst/>
          </a:prstGeom>
          <a:noFill/>
          <a:ln/>
        </p:spPr>
        <p:txBody>
          <a:bodyPr wrap="square" rtlCol="0" anchor="ctr"/>
          <a:lstStyle/>
          <a:p>
            <a:pPr indent="0" marL="0">
              <a:buNone/>
            </a:pPr>
            <a:r>
              <a:rPr lang="en-US" sz="1000" dirty="0">
                <a:solidFill>
                  <a:srgbClr val="BDD8D8"/>
                </a:solidFill>
              </a:rPr>
              <a:t>ESP32 · Solenoid Valve (manual shutoff) · Relay · Exhaust Fan · Buzzer</a:t>
            </a:r>
            <a:endParaRPr lang="en-US" sz="1000" dirty="0"/>
          </a:p>
        </p:txBody>
      </p:sp>
      <p:sp>
        <p:nvSpPr>
          <p:cNvPr id="7" name="Shape 5"/>
          <p:cNvSpPr/>
          <p:nvPr/>
        </p:nvSpPr>
        <p:spPr>
          <a:xfrm>
            <a:off x="274320" y="1115568"/>
            <a:ext cx="5120640" cy="310896"/>
          </a:xfrm>
          <a:prstGeom prst="rect">
            <a:avLst/>
          </a:prstGeom>
          <a:solidFill>
            <a:srgbClr val="1E3A8A"/>
          </a:solidFill>
          <a:ln/>
        </p:spPr>
      </p:sp>
      <p:sp>
        <p:nvSpPr>
          <p:cNvPr id="8" name="Shape 6"/>
          <p:cNvSpPr/>
          <p:nvPr/>
        </p:nvSpPr>
        <p:spPr>
          <a:xfrm>
            <a:off x="274320" y="1115568"/>
            <a:ext cx="54864" cy="310896"/>
          </a:xfrm>
          <a:prstGeom prst="rect">
            <a:avLst/>
          </a:prstGeom>
          <a:solidFill>
            <a:srgbClr val="1D4ED8"/>
          </a:solidFill>
          <a:ln/>
        </p:spPr>
      </p:sp>
      <p:sp>
        <p:nvSpPr>
          <p:cNvPr id="9" name="Text 7"/>
          <p:cNvSpPr/>
          <p:nvPr/>
        </p:nvSpPr>
        <p:spPr>
          <a:xfrm>
            <a:off x="402336" y="1115568"/>
            <a:ext cx="4937760" cy="310896"/>
          </a:xfrm>
          <a:prstGeom prst="rect">
            <a:avLst/>
          </a:prstGeom>
          <a:noFill/>
          <a:ln/>
        </p:spPr>
        <p:txBody>
          <a:bodyPr wrap="square" rtlCol="0" anchor="ctr"/>
          <a:lstStyle/>
          <a:p>
            <a:pPr indent="0" marL="0">
              <a:buNone/>
            </a:pPr>
            <a:r>
              <a:rPr lang="en-US" sz="1100" b="1" dirty="0">
                <a:solidFill>
                  <a:srgbClr val="FFFFFF"/>
                </a:solidFill>
              </a:rPr>
              <a:t>Objective</a:t>
            </a:r>
            <a:endParaRPr lang="en-US" sz="1100" dirty="0"/>
          </a:p>
        </p:txBody>
      </p:sp>
      <p:sp>
        <p:nvSpPr>
          <p:cNvPr id="10" name="Shape 8"/>
          <p:cNvSpPr/>
          <p:nvPr/>
        </p:nvSpPr>
        <p:spPr>
          <a:xfrm>
            <a:off x="274320" y="1426464"/>
            <a:ext cx="5120640" cy="658368"/>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1" name="Text 9"/>
          <p:cNvSpPr/>
          <p:nvPr/>
        </p:nvSpPr>
        <p:spPr>
          <a:xfrm>
            <a:off x="402336" y="1444752"/>
            <a:ext cx="4919472" cy="621792"/>
          </a:xfrm>
          <a:prstGeom prst="rect">
            <a:avLst/>
          </a:prstGeom>
          <a:noFill/>
          <a:ln/>
        </p:spPr>
        <p:txBody>
          <a:bodyPr wrap="square" rtlCol="0" anchor="ctr"/>
          <a:lstStyle/>
          <a:p>
            <a:pPr indent="0" marL="0">
              <a:buNone/>
            </a:pPr>
            <a:r>
              <a:rPr lang="en-US" sz="1050" dirty="0">
                <a:solidFill>
                  <a:srgbClr val="1E293B"/>
                </a:solidFill>
              </a:rPr>
              <a:t>Verify that the ESP32 simultaneously activates the exhaust fan (via relay) and buzzer on ALERT. Fan turns off automatically through code once PPM drops below threshold. Solenoid valve is shut off manually.</a:t>
            </a:r>
            <a:endParaRPr lang="en-US" sz="1050" dirty="0"/>
          </a:p>
        </p:txBody>
      </p:sp>
      <p:sp>
        <p:nvSpPr>
          <p:cNvPr id="12" name="Shape 10"/>
          <p:cNvSpPr/>
          <p:nvPr/>
        </p:nvSpPr>
        <p:spPr>
          <a:xfrm>
            <a:off x="274320" y="2194560"/>
            <a:ext cx="5120640" cy="310896"/>
          </a:xfrm>
          <a:prstGeom prst="rect">
            <a:avLst/>
          </a:prstGeom>
          <a:solidFill>
            <a:srgbClr val="1E3A8A"/>
          </a:solidFill>
          <a:ln/>
        </p:spPr>
      </p:sp>
      <p:sp>
        <p:nvSpPr>
          <p:cNvPr id="13" name="Shape 11"/>
          <p:cNvSpPr/>
          <p:nvPr/>
        </p:nvSpPr>
        <p:spPr>
          <a:xfrm>
            <a:off x="274320" y="2194560"/>
            <a:ext cx="54864" cy="310896"/>
          </a:xfrm>
          <a:prstGeom prst="rect">
            <a:avLst/>
          </a:prstGeom>
          <a:solidFill>
            <a:srgbClr val="1D4ED8"/>
          </a:solidFill>
          <a:ln/>
        </p:spPr>
      </p:sp>
      <p:sp>
        <p:nvSpPr>
          <p:cNvPr id="14" name="Text 12"/>
          <p:cNvSpPr/>
          <p:nvPr/>
        </p:nvSpPr>
        <p:spPr>
          <a:xfrm>
            <a:off x="402336" y="2194560"/>
            <a:ext cx="4937760" cy="310896"/>
          </a:xfrm>
          <a:prstGeom prst="rect">
            <a:avLst/>
          </a:prstGeom>
          <a:noFill/>
          <a:ln/>
        </p:spPr>
        <p:txBody>
          <a:bodyPr wrap="square" rtlCol="0" anchor="ctr"/>
          <a:lstStyle/>
          <a:p>
            <a:pPr indent="0" marL="0">
              <a:buNone/>
            </a:pPr>
            <a:r>
              <a:rPr lang="en-US" sz="1100" b="1" dirty="0">
                <a:solidFill>
                  <a:srgbClr val="FFFFFF"/>
                </a:solidFill>
              </a:rPr>
              <a:t>Hardware Connections</a:t>
            </a:r>
            <a:endParaRPr lang="en-US" sz="1100" dirty="0"/>
          </a:p>
        </p:txBody>
      </p:sp>
      <p:sp>
        <p:nvSpPr>
          <p:cNvPr id="15" name="Shape 13"/>
          <p:cNvSpPr/>
          <p:nvPr/>
        </p:nvSpPr>
        <p:spPr>
          <a:xfrm>
            <a:off x="274320" y="2505456"/>
            <a:ext cx="5120640" cy="877824"/>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6" name="Text 14"/>
          <p:cNvSpPr/>
          <p:nvPr/>
        </p:nvSpPr>
        <p:spPr>
          <a:xfrm>
            <a:off x="402336" y="2542032"/>
            <a:ext cx="4919472" cy="786384"/>
          </a:xfrm>
          <a:prstGeom prst="rect">
            <a:avLst/>
          </a:prstGeom>
          <a:noFill/>
          <a:ln/>
        </p:spPr>
        <p:txBody>
          <a:bodyPr wrap="square" rtlCol="0" anchor="ctr"/>
          <a:lstStyle/>
          <a:p>
            <a:pPr marL="342900" indent="-342900">
              <a:spcAft>
                <a:spcPts val="600"/>
              </a:spcAft>
              <a:buSzPct val="100000"/>
              <a:buChar char="•"/>
            </a:pPr>
            <a:r>
              <a:rPr lang="en-US" sz="1050" dirty="0">
                <a:solidFill>
                  <a:srgbClr val="1E293B"/>
                </a:solidFill>
              </a:rPr>
              <a:t>ESP32 GPIO5  →  Relay IN  →  Exhaust Fan (MF40100V1)  |  Fan on 12V rail</a:t>
            </a:r>
            <a:endParaRPr lang="en-US" sz="1050" dirty="0"/>
          </a:p>
          <a:p>
            <a:pPr marL="342900" indent="-342900">
              <a:spcAft>
                <a:spcPts val="600"/>
              </a:spcAft>
              <a:buSzPct val="100000"/>
              <a:buChar char="•"/>
            </a:pPr>
            <a:r>
              <a:rPr lang="en-US" sz="1050" dirty="0">
                <a:solidFill>
                  <a:srgbClr val="1E293B"/>
                </a:solidFill>
              </a:rPr>
              <a:t>ESP32 GPIO19  →  Piezo Buzzer (CEM-1203)</a:t>
            </a:r>
            <a:endParaRPr lang="en-US" sz="1050" dirty="0"/>
          </a:p>
          <a:p>
            <a:pPr marL="342900" indent="-342900">
              <a:spcAft>
                <a:spcPts val="600"/>
              </a:spcAft>
              <a:buSzPct val="100000"/>
              <a:buChar char="•"/>
            </a:pPr>
            <a:r>
              <a:rPr lang="en-US" sz="1050" dirty="0">
                <a:solidFill>
                  <a:srgbClr val="1E293B"/>
                </a:solidFill>
              </a:rPr>
              <a:t>Solenoid valve connected to gas cylinder — manually turned off on leak</a:t>
            </a:r>
            <a:endParaRPr lang="en-US" sz="1050" dirty="0"/>
          </a:p>
        </p:txBody>
      </p:sp>
      <p:sp>
        <p:nvSpPr>
          <p:cNvPr id="17" name="Shape 15"/>
          <p:cNvSpPr/>
          <p:nvPr/>
        </p:nvSpPr>
        <p:spPr>
          <a:xfrm>
            <a:off x="274320" y="3493008"/>
            <a:ext cx="5120640" cy="310896"/>
          </a:xfrm>
          <a:prstGeom prst="rect">
            <a:avLst/>
          </a:prstGeom>
          <a:solidFill>
            <a:srgbClr val="1E3A8A"/>
          </a:solidFill>
          <a:ln/>
        </p:spPr>
      </p:sp>
      <p:sp>
        <p:nvSpPr>
          <p:cNvPr id="18" name="Shape 16"/>
          <p:cNvSpPr/>
          <p:nvPr/>
        </p:nvSpPr>
        <p:spPr>
          <a:xfrm>
            <a:off x="274320" y="3493008"/>
            <a:ext cx="54864" cy="310896"/>
          </a:xfrm>
          <a:prstGeom prst="rect">
            <a:avLst/>
          </a:prstGeom>
          <a:solidFill>
            <a:srgbClr val="1D4ED8"/>
          </a:solidFill>
          <a:ln/>
        </p:spPr>
      </p:sp>
      <p:sp>
        <p:nvSpPr>
          <p:cNvPr id="19" name="Text 17"/>
          <p:cNvSpPr/>
          <p:nvPr/>
        </p:nvSpPr>
        <p:spPr>
          <a:xfrm>
            <a:off x="402336" y="3493008"/>
            <a:ext cx="4937760" cy="310896"/>
          </a:xfrm>
          <a:prstGeom prst="rect">
            <a:avLst/>
          </a:prstGeom>
          <a:noFill/>
          <a:ln/>
        </p:spPr>
        <p:txBody>
          <a:bodyPr wrap="square" rtlCol="0" anchor="ctr"/>
          <a:lstStyle/>
          <a:p>
            <a:pPr indent="0" marL="0">
              <a:buNone/>
            </a:pPr>
            <a:r>
              <a:rPr lang="en-US" sz="1100" b="1" dirty="0">
                <a:solidFill>
                  <a:srgbClr val="FFFFFF"/>
                </a:solidFill>
              </a:rPr>
              <a:t>Test Steps</a:t>
            </a:r>
            <a:endParaRPr lang="en-US" sz="1100" dirty="0"/>
          </a:p>
        </p:txBody>
      </p:sp>
      <p:sp>
        <p:nvSpPr>
          <p:cNvPr id="20" name="Shape 18"/>
          <p:cNvSpPr/>
          <p:nvPr/>
        </p:nvSpPr>
        <p:spPr>
          <a:xfrm>
            <a:off x="274320" y="3803904"/>
            <a:ext cx="5120640" cy="1170432"/>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1" name="Text 19"/>
          <p:cNvSpPr/>
          <p:nvPr/>
        </p:nvSpPr>
        <p:spPr>
          <a:xfrm>
            <a:off x="402336" y="3840480"/>
            <a:ext cx="4919472" cy="1078992"/>
          </a:xfrm>
          <a:prstGeom prst="rect">
            <a:avLst/>
          </a:prstGeom>
          <a:noFill/>
          <a:ln/>
        </p:spPr>
        <p:txBody>
          <a:bodyPr wrap="square" rtlCol="0" anchor="ctr"/>
          <a:lstStyle/>
          <a:p>
            <a:pPr marL="342900" indent="-342900">
              <a:spcAft>
                <a:spcPts val="600"/>
              </a:spcAft>
              <a:buSzPct val="100000"/>
              <a:buFont typeface="+mj-lt"/>
              <a:buAutoNum type="arabicPeriod" startAt="1"/>
            </a:pPr>
            <a:r>
              <a:rPr lang="en-US" sz="1050" dirty="0">
                <a:solidFill>
                  <a:srgbClr val="1E293B"/>
                </a:solidFill>
              </a:rPr>
              <a:t>Simulate ALERT — exhaust fan starts via relay, buzzer sounds simultaneously</a:t>
            </a:r>
            <a:endParaRPr lang="en-US" sz="1050" dirty="0"/>
          </a:p>
          <a:p>
            <a:pPr marL="342900" indent="-342900">
              <a:spcAft>
                <a:spcPts val="600"/>
              </a:spcAft>
              <a:buSzPct val="100000"/>
              <a:buFont typeface="+mj-lt"/>
              <a:buAutoNum type="arabicPeriod" startAt="1"/>
            </a:pPr>
            <a:r>
              <a:rPr lang="en-US" sz="1050" dirty="0">
                <a:solidFill>
                  <a:srgbClr val="1E293B"/>
                </a:solidFill>
              </a:rPr>
              <a:t>Confirm both fire within the same ESP32 polling cycle</a:t>
            </a:r>
            <a:endParaRPr lang="en-US" sz="1050" dirty="0"/>
          </a:p>
          <a:p>
            <a:pPr marL="342900" indent="-342900">
              <a:spcAft>
                <a:spcPts val="600"/>
              </a:spcAft>
              <a:buSzPct val="100000"/>
              <a:buFont typeface="+mj-lt"/>
              <a:buAutoNum type="arabicPeriod" startAt="1"/>
            </a:pPr>
            <a:r>
              <a:rPr lang="en-US" sz="1050" dirty="0">
                <a:solidFill>
                  <a:srgbClr val="1E293B"/>
                </a:solidFill>
              </a:rPr>
              <a:t>Simulate gas clearing — PPM drops below threshold in code</a:t>
            </a:r>
            <a:endParaRPr lang="en-US" sz="1050" dirty="0"/>
          </a:p>
          <a:p>
            <a:pPr marL="342900" indent="-342900">
              <a:spcAft>
                <a:spcPts val="600"/>
              </a:spcAft>
              <a:buSzPct val="100000"/>
              <a:buFont typeface="+mj-lt"/>
              <a:buAutoNum type="arabicPeriod" startAt="1"/>
            </a:pPr>
            <a:r>
              <a:rPr lang="en-US" sz="1050" dirty="0">
                <a:solidFill>
                  <a:srgbClr val="1E293B"/>
                </a:solidFill>
              </a:rPr>
              <a:t>Confirm fan turns OFF automatically and buzzer stops — no physical button needed</a:t>
            </a:r>
            <a:endParaRPr lang="en-US" sz="1050" dirty="0"/>
          </a:p>
        </p:txBody>
      </p:sp>
      <p:sp>
        <p:nvSpPr>
          <p:cNvPr id="22" name="Shape 20"/>
          <p:cNvSpPr/>
          <p:nvPr/>
        </p:nvSpPr>
        <p:spPr>
          <a:xfrm>
            <a:off x="5577840" y="1115568"/>
            <a:ext cx="3337560" cy="310896"/>
          </a:xfrm>
          <a:prstGeom prst="rect">
            <a:avLst/>
          </a:prstGeom>
          <a:solidFill>
            <a:srgbClr val="1E3A8A"/>
          </a:solidFill>
          <a:ln/>
        </p:spPr>
      </p:sp>
      <p:sp>
        <p:nvSpPr>
          <p:cNvPr id="23" name="Shape 21"/>
          <p:cNvSpPr/>
          <p:nvPr/>
        </p:nvSpPr>
        <p:spPr>
          <a:xfrm>
            <a:off x="5577840" y="1115568"/>
            <a:ext cx="54864" cy="310896"/>
          </a:xfrm>
          <a:prstGeom prst="rect">
            <a:avLst/>
          </a:prstGeom>
          <a:solidFill>
            <a:srgbClr val="1D4ED8"/>
          </a:solidFill>
          <a:ln/>
        </p:spPr>
      </p:sp>
      <p:sp>
        <p:nvSpPr>
          <p:cNvPr id="24" name="Text 22"/>
          <p:cNvSpPr/>
          <p:nvPr/>
        </p:nvSpPr>
        <p:spPr>
          <a:xfrm>
            <a:off x="5705856" y="1115568"/>
            <a:ext cx="3154680" cy="310896"/>
          </a:xfrm>
          <a:prstGeom prst="rect">
            <a:avLst/>
          </a:prstGeom>
          <a:noFill/>
          <a:ln/>
        </p:spPr>
        <p:txBody>
          <a:bodyPr wrap="square" rtlCol="0" anchor="ctr"/>
          <a:lstStyle/>
          <a:p>
            <a:pPr indent="0" marL="0">
              <a:buNone/>
            </a:pPr>
            <a:r>
              <a:rPr lang="en-US" sz="1100" b="1" dirty="0">
                <a:solidFill>
                  <a:srgbClr val="FFFFFF"/>
                </a:solidFill>
              </a:rPr>
              <a:t>Key Parameters</a:t>
            </a:r>
            <a:endParaRPr lang="en-US" sz="1100" dirty="0"/>
          </a:p>
        </p:txBody>
      </p:sp>
      <p:sp>
        <p:nvSpPr>
          <p:cNvPr id="25" name="Shape 23"/>
          <p:cNvSpPr/>
          <p:nvPr/>
        </p:nvSpPr>
        <p:spPr>
          <a:xfrm>
            <a:off x="5577840" y="1426464"/>
            <a:ext cx="3337560" cy="850392"/>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6" name="Shape 24"/>
          <p:cNvSpPr/>
          <p:nvPr/>
        </p:nvSpPr>
        <p:spPr>
          <a:xfrm>
            <a:off x="5577840" y="1426464"/>
            <a:ext cx="3337560" cy="283464"/>
          </a:xfrm>
          <a:prstGeom prst="rect">
            <a:avLst/>
          </a:prstGeom>
          <a:solidFill>
            <a:srgbClr val="DBEAFE"/>
          </a:solidFill>
          <a:ln/>
        </p:spPr>
      </p:sp>
      <p:sp>
        <p:nvSpPr>
          <p:cNvPr id="27" name="Text 25"/>
          <p:cNvSpPr/>
          <p:nvPr/>
        </p:nvSpPr>
        <p:spPr>
          <a:xfrm>
            <a:off x="5687568" y="1426464"/>
            <a:ext cx="1417320" cy="283464"/>
          </a:xfrm>
          <a:prstGeom prst="rect">
            <a:avLst/>
          </a:prstGeom>
          <a:noFill/>
          <a:ln/>
        </p:spPr>
        <p:txBody>
          <a:bodyPr wrap="square" rtlCol="0" anchor="ctr"/>
          <a:lstStyle/>
          <a:p>
            <a:pPr indent="0" marL="0">
              <a:buNone/>
            </a:pPr>
            <a:r>
              <a:rPr lang="en-US" sz="950" b="1" dirty="0">
                <a:solidFill>
                  <a:srgbClr val="1E3A8A"/>
                </a:solidFill>
              </a:rPr>
              <a:t>Fan control</a:t>
            </a:r>
            <a:endParaRPr lang="en-US" sz="950" dirty="0"/>
          </a:p>
        </p:txBody>
      </p:sp>
      <p:sp>
        <p:nvSpPr>
          <p:cNvPr id="28" name="Text 26"/>
          <p:cNvSpPr/>
          <p:nvPr/>
        </p:nvSpPr>
        <p:spPr>
          <a:xfrm>
            <a:off x="7132320" y="1426464"/>
            <a:ext cx="1691640" cy="283464"/>
          </a:xfrm>
          <a:prstGeom prst="rect">
            <a:avLst/>
          </a:prstGeom>
          <a:noFill/>
          <a:ln/>
        </p:spPr>
        <p:txBody>
          <a:bodyPr wrap="square" rtlCol="0" anchor="ctr"/>
          <a:lstStyle/>
          <a:p>
            <a:pPr indent="0" marL="0">
              <a:buNone/>
            </a:pPr>
            <a:r>
              <a:rPr lang="en-US" sz="950" dirty="0">
                <a:solidFill>
                  <a:srgbClr val="1E293B"/>
                </a:solidFill>
              </a:rPr>
              <a:t>Relay — 5V coil, 12V load</a:t>
            </a:r>
            <a:endParaRPr lang="en-US" sz="950" dirty="0"/>
          </a:p>
        </p:txBody>
      </p:sp>
      <p:sp>
        <p:nvSpPr>
          <p:cNvPr id="29" name="Shape 27"/>
          <p:cNvSpPr/>
          <p:nvPr/>
        </p:nvSpPr>
        <p:spPr>
          <a:xfrm>
            <a:off x="5577840" y="1709928"/>
            <a:ext cx="3337560" cy="283464"/>
          </a:xfrm>
          <a:prstGeom prst="rect">
            <a:avLst/>
          </a:prstGeom>
          <a:solidFill>
            <a:srgbClr val="FFFFFF"/>
          </a:solidFill>
          <a:ln/>
        </p:spPr>
      </p:sp>
      <p:sp>
        <p:nvSpPr>
          <p:cNvPr id="30" name="Text 28"/>
          <p:cNvSpPr/>
          <p:nvPr/>
        </p:nvSpPr>
        <p:spPr>
          <a:xfrm>
            <a:off x="5687568" y="1709928"/>
            <a:ext cx="1417320" cy="283464"/>
          </a:xfrm>
          <a:prstGeom prst="rect">
            <a:avLst/>
          </a:prstGeom>
          <a:noFill/>
          <a:ln/>
        </p:spPr>
        <p:txBody>
          <a:bodyPr wrap="square" rtlCol="0" anchor="ctr"/>
          <a:lstStyle/>
          <a:p>
            <a:pPr indent="0" marL="0">
              <a:buNone/>
            </a:pPr>
            <a:r>
              <a:rPr lang="en-US" sz="950" b="1" dirty="0">
                <a:solidFill>
                  <a:srgbClr val="1E3A8A"/>
                </a:solidFill>
              </a:rPr>
              <a:t>Fan off</a:t>
            </a:r>
            <a:endParaRPr lang="en-US" sz="950" dirty="0"/>
          </a:p>
        </p:txBody>
      </p:sp>
      <p:sp>
        <p:nvSpPr>
          <p:cNvPr id="31" name="Text 29"/>
          <p:cNvSpPr/>
          <p:nvPr/>
        </p:nvSpPr>
        <p:spPr>
          <a:xfrm>
            <a:off x="7132320" y="1709928"/>
            <a:ext cx="1691640" cy="283464"/>
          </a:xfrm>
          <a:prstGeom prst="rect">
            <a:avLst/>
          </a:prstGeom>
          <a:noFill/>
          <a:ln/>
        </p:spPr>
        <p:txBody>
          <a:bodyPr wrap="square" rtlCol="0" anchor="ctr"/>
          <a:lstStyle/>
          <a:p>
            <a:pPr indent="0" marL="0">
              <a:buNone/>
            </a:pPr>
            <a:r>
              <a:rPr lang="en-US" sz="950" dirty="0">
                <a:solidFill>
                  <a:srgbClr val="1E293B"/>
                </a:solidFill>
              </a:rPr>
              <a:t>Code — PPM &lt; threshold</a:t>
            </a:r>
            <a:endParaRPr lang="en-US" sz="950" dirty="0"/>
          </a:p>
        </p:txBody>
      </p:sp>
      <p:sp>
        <p:nvSpPr>
          <p:cNvPr id="32" name="Shape 30"/>
          <p:cNvSpPr/>
          <p:nvPr/>
        </p:nvSpPr>
        <p:spPr>
          <a:xfrm>
            <a:off x="5577840" y="1993392"/>
            <a:ext cx="3337560" cy="283464"/>
          </a:xfrm>
          <a:prstGeom prst="rect">
            <a:avLst/>
          </a:prstGeom>
          <a:solidFill>
            <a:srgbClr val="DBEAFE"/>
          </a:solidFill>
          <a:ln/>
        </p:spPr>
      </p:sp>
      <p:sp>
        <p:nvSpPr>
          <p:cNvPr id="33" name="Text 31"/>
          <p:cNvSpPr/>
          <p:nvPr/>
        </p:nvSpPr>
        <p:spPr>
          <a:xfrm>
            <a:off x="5687568" y="1993392"/>
            <a:ext cx="1417320" cy="283464"/>
          </a:xfrm>
          <a:prstGeom prst="rect">
            <a:avLst/>
          </a:prstGeom>
          <a:noFill/>
          <a:ln/>
        </p:spPr>
        <p:txBody>
          <a:bodyPr wrap="square" rtlCol="0" anchor="ctr"/>
          <a:lstStyle/>
          <a:p>
            <a:pPr indent="0" marL="0">
              <a:buNone/>
            </a:pPr>
            <a:r>
              <a:rPr lang="en-US" sz="950" b="1" dirty="0">
                <a:solidFill>
                  <a:srgbClr val="1E3A8A"/>
                </a:solidFill>
              </a:rPr>
              <a:t>Buzzer</a:t>
            </a:r>
            <a:endParaRPr lang="en-US" sz="950" dirty="0"/>
          </a:p>
        </p:txBody>
      </p:sp>
      <p:sp>
        <p:nvSpPr>
          <p:cNvPr id="34" name="Text 32"/>
          <p:cNvSpPr/>
          <p:nvPr/>
        </p:nvSpPr>
        <p:spPr>
          <a:xfrm>
            <a:off x="7132320" y="1993392"/>
            <a:ext cx="1691640" cy="283464"/>
          </a:xfrm>
          <a:prstGeom prst="rect">
            <a:avLst/>
          </a:prstGeom>
          <a:noFill/>
          <a:ln/>
        </p:spPr>
        <p:txBody>
          <a:bodyPr wrap="square" rtlCol="0" anchor="ctr"/>
          <a:lstStyle/>
          <a:p>
            <a:pPr indent="0" marL="0">
              <a:buNone/>
            </a:pPr>
            <a:r>
              <a:rPr lang="en-US" sz="950" dirty="0">
                <a:solidFill>
                  <a:srgbClr val="1E293B"/>
                </a:solidFill>
              </a:rPr>
              <a:t>GPIO19 direct drive</a:t>
            </a:r>
            <a:endParaRPr lang="en-US" sz="950" dirty="0"/>
          </a:p>
        </p:txBody>
      </p:sp>
      <p:sp>
        <p:nvSpPr>
          <p:cNvPr id="35" name="Shape 33"/>
          <p:cNvSpPr/>
          <p:nvPr/>
        </p:nvSpPr>
        <p:spPr>
          <a:xfrm>
            <a:off x="5577840" y="2276856"/>
            <a:ext cx="3337560" cy="283464"/>
          </a:xfrm>
          <a:prstGeom prst="rect">
            <a:avLst/>
          </a:prstGeom>
          <a:solidFill>
            <a:srgbClr val="FFFFFF"/>
          </a:solidFill>
          <a:ln/>
        </p:spPr>
      </p:sp>
      <p:sp>
        <p:nvSpPr>
          <p:cNvPr id="36" name="Text 34"/>
          <p:cNvSpPr/>
          <p:nvPr/>
        </p:nvSpPr>
        <p:spPr>
          <a:xfrm>
            <a:off x="5687568" y="2276856"/>
            <a:ext cx="1417320" cy="283464"/>
          </a:xfrm>
          <a:prstGeom prst="rect">
            <a:avLst/>
          </a:prstGeom>
          <a:noFill/>
          <a:ln/>
        </p:spPr>
        <p:txBody>
          <a:bodyPr wrap="square" rtlCol="0" anchor="ctr"/>
          <a:lstStyle/>
          <a:p>
            <a:pPr indent="0" marL="0">
              <a:buNone/>
            </a:pPr>
            <a:r>
              <a:rPr lang="en-US" sz="950" b="1" dirty="0">
                <a:solidFill>
                  <a:srgbClr val="1E3A8A"/>
                </a:solidFill>
              </a:rPr>
              <a:t>Valve shutoff</a:t>
            </a:r>
            <a:endParaRPr lang="en-US" sz="950" dirty="0"/>
          </a:p>
        </p:txBody>
      </p:sp>
      <p:sp>
        <p:nvSpPr>
          <p:cNvPr id="37" name="Text 35"/>
          <p:cNvSpPr/>
          <p:nvPr/>
        </p:nvSpPr>
        <p:spPr>
          <a:xfrm>
            <a:off x="7132320" y="2276856"/>
            <a:ext cx="1691640" cy="283464"/>
          </a:xfrm>
          <a:prstGeom prst="rect">
            <a:avLst/>
          </a:prstGeom>
          <a:noFill/>
          <a:ln/>
        </p:spPr>
        <p:txBody>
          <a:bodyPr wrap="square" rtlCol="0" anchor="ctr"/>
          <a:lstStyle/>
          <a:p>
            <a:pPr indent="0" marL="0">
              <a:buNone/>
            </a:pPr>
            <a:r>
              <a:rPr lang="en-US" sz="950" dirty="0">
                <a:solidFill>
                  <a:srgbClr val="1E293B"/>
                </a:solidFill>
              </a:rPr>
              <a:t>Manual by user</a:t>
            </a:r>
            <a:endParaRPr lang="en-US" sz="950" dirty="0"/>
          </a:p>
        </p:txBody>
      </p:sp>
      <p:sp>
        <p:nvSpPr>
          <p:cNvPr id="38" name="Shape 36"/>
          <p:cNvSpPr/>
          <p:nvPr/>
        </p:nvSpPr>
        <p:spPr>
          <a:xfrm>
            <a:off x="5577840" y="2368296"/>
            <a:ext cx="3337560" cy="310896"/>
          </a:xfrm>
          <a:prstGeom prst="rect">
            <a:avLst/>
          </a:prstGeom>
          <a:solidFill>
            <a:srgbClr val="1E3A8A"/>
          </a:solidFill>
          <a:ln/>
        </p:spPr>
      </p:sp>
      <p:sp>
        <p:nvSpPr>
          <p:cNvPr id="39" name="Shape 37"/>
          <p:cNvSpPr/>
          <p:nvPr/>
        </p:nvSpPr>
        <p:spPr>
          <a:xfrm>
            <a:off x="5577840" y="2368296"/>
            <a:ext cx="54864" cy="310896"/>
          </a:xfrm>
          <a:prstGeom prst="rect">
            <a:avLst/>
          </a:prstGeom>
          <a:solidFill>
            <a:srgbClr val="1D4ED8"/>
          </a:solidFill>
          <a:ln/>
        </p:spPr>
      </p:sp>
      <p:sp>
        <p:nvSpPr>
          <p:cNvPr id="40" name="Text 38"/>
          <p:cNvSpPr/>
          <p:nvPr/>
        </p:nvSpPr>
        <p:spPr>
          <a:xfrm>
            <a:off x="5705856" y="2368296"/>
            <a:ext cx="3154680" cy="310896"/>
          </a:xfrm>
          <a:prstGeom prst="rect">
            <a:avLst/>
          </a:prstGeom>
          <a:noFill/>
          <a:ln/>
        </p:spPr>
        <p:txBody>
          <a:bodyPr wrap="square" rtlCol="0" anchor="ctr"/>
          <a:lstStyle/>
          <a:p>
            <a:pPr indent="0" marL="0">
              <a:buNone/>
            </a:pPr>
            <a:r>
              <a:rPr lang="en-US" sz="1100" b="1" dirty="0">
                <a:solidFill>
                  <a:srgbClr val="FFFFFF"/>
                </a:solidFill>
              </a:rPr>
              <a:t>Relay — Why Here?</a:t>
            </a:r>
            <a:endParaRPr lang="en-US" sz="1100" dirty="0"/>
          </a:p>
        </p:txBody>
      </p:sp>
      <p:sp>
        <p:nvSpPr>
          <p:cNvPr id="41" name="Shape 39"/>
          <p:cNvSpPr/>
          <p:nvPr/>
        </p:nvSpPr>
        <p:spPr>
          <a:xfrm>
            <a:off x="5577840" y="2679192"/>
            <a:ext cx="3337560" cy="1133856"/>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42" name="Text 40"/>
          <p:cNvSpPr/>
          <p:nvPr/>
        </p:nvSpPr>
        <p:spPr>
          <a:xfrm>
            <a:off x="5705856" y="2697480"/>
            <a:ext cx="3136392" cy="1078992"/>
          </a:xfrm>
          <a:prstGeom prst="rect">
            <a:avLst/>
          </a:prstGeom>
          <a:noFill/>
          <a:ln/>
        </p:spPr>
        <p:txBody>
          <a:bodyPr wrap="square" rtlCol="0" anchor="ctr"/>
          <a:lstStyle/>
          <a:p>
            <a:pPr indent="0" marL="0">
              <a:buNone/>
            </a:pPr>
            <a:r>
              <a:rPr lang="en-US" sz="950" dirty="0">
                <a:solidFill>
                  <a:srgbClr val="1E293B"/>
                </a:solidFill>
              </a:rPr>
              <a:t>The exhaust fan runs on a 12V DC motor — too much current and voltage for the ESP32 GPIO (max 3.3V / 12mA) to drive directly. The relay acts as a switch: ESP32 controls the low-power coil side, and the relay switches the high-current fan circuit safely.</a:t>
            </a:r>
            <a:endParaRPr lang="en-US" sz="950" dirty="0"/>
          </a:p>
        </p:txBody>
      </p:sp>
      <p:sp>
        <p:nvSpPr>
          <p:cNvPr id="43" name="Shape 41"/>
          <p:cNvSpPr/>
          <p:nvPr/>
        </p:nvSpPr>
        <p:spPr>
          <a:xfrm>
            <a:off x="5577840" y="3904488"/>
            <a:ext cx="3337560" cy="310896"/>
          </a:xfrm>
          <a:prstGeom prst="rect">
            <a:avLst/>
          </a:prstGeom>
          <a:solidFill>
            <a:srgbClr val="15803D"/>
          </a:solidFill>
          <a:ln/>
        </p:spPr>
      </p:sp>
      <p:sp>
        <p:nvSpPr>
          <p:cNvPr id="44" name="Shape 42"/>
          <p:cNvSpPr/>
          <p:nvPr/>
        </p:nvSpPr>
        <p:spPr>
          <a:xfrm>
            <a:off x="5577840" y="3904488"/>
            <a:ext cx="54864" cy="310896"/>
          </a:xfrm>
          <a:prstGeom prst="rect">
            <a:avLst/>
          </a:prstGeom>
          <a:solidFill>
            <a:srgbClr val="15803D"/>
          </a:solidFill>
          <a:ln/>
        </p:spPr>
      </p:sp>
      <p:sp>
        <p:nvSpPr>
          <p:cNvPr id="45" name="Text 43"/>
          <p:cNvSpPr/>
          <p:nvPr/>
        </p:nvSpPr>
        <p:spPr>
          <a:xfrm>
            <a:off x="5705856" y="3904488"/>
            <a:ext cx="3154680" cy="310896"/>
          </a:xfrm>
          <a:prstGeom prst="rect">
            <a:avLst/>
          </a:prstGeom>
          <a:noFill/>
          <a:ln/>
        </p:spPr>
        <p:txBody>
          <a:bodyPr wrap="square" rtlCol="0" anchor="ctr"/>
          <a:lstStyle/>
          <a:p>
            <a:pPr indent="0" marL="0">
              <a:buNone/>
            </a:pPr>
            <a:r>
              <a:rPr lang="en-US" sz="1100" b="1" dirty="0">
                <a:solidFill>
                  <a:srgbClr val="FFFFFF"/>
                </a:solidFill>
              </a:rPr>
              <a:t>Pass Criteria</a:t>
            </a:r>
            <a:endParaRPr lang="en-US" sz="1100" dirty="0"/>
          </a:p>
        </p:txBody>
      </p:sp>
      <p:sp>
        <p:nvSpPr>
          <p:cNvPr id="46" name="Shape 44"/>
          <p:cNvSpPr/>
          <p:nvPr/>
        </p:nvSpPr>
        <p:spPr>
          <a:xfrm>
            <a:off x="5577840" y="4215384"/>
            <a:ext cx="3337560" cy="758952"/>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47" name="Text 45"/>
          <p:cNvSpPr/>
          <p:nvPr/>
        </p:nvSpPr>
        <p:spPr>
          <a:xfrm>
            <a:off x="5705856" y="4251960"/>
            <a:ext cx="3136392" cy="667512"/>
          </a:xfrm>
          <a:prstGeom prst="rect">
            <a:avLst/>
          </a:prstGeom>
          <a:noFill/>
          <a:ln/>
        </p:spPr>
        <p:txBody>
          <a:bodyPr wrap="square" rtlCol="0" anchor="ctr"/>
          <a:lstStyle/>
          <a:p>
            <a:pPr marL="342900" indent="-342900">
              <a:spcAft>
                <a:spcPts val="600"/>
              </a:spcAft>
              <a:buSzPct val="100000"/>
              <a:buChar char="•"/>
            </a:pPr>
            <a:r>
              <a:rPr lang="en-US" sz="950" dirty="0">
                <a:solidFill>
                  <a:srgbClr val="1E293B"/>
                </a:solidFill>
              </a:rPr>
              <a:t>Fan and buzzer fire simultaneously on ALERT</a:t>
            </a:r>
            <a:endParaRPr lang="en-US" sz="950" dirty="0"/>
          </a:p>
          <a:p>
            <a:pPr marL="342900" indent="-342900">
              <a:spcAft>
                <a:spcPts val="600"/>
              </a:spcAft>
              <a:buSzPct val="100000"/>
              <a:buChar char="•"/>
            </a:pPr>
            <a:r>
              <a:rPr lang="en-US" sz="950" dirty="0">
                <a:solidFill>
                  <a:srgbClr val="1E293B"/>
                </a:solidFill>
              </a:rPr>
              <a:t>Fan turns off automatically when PPM clears in code</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7"/>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4C1D95"/>
          </a:solidFill>
          <a:ln/>
        </p:spPr>
      </p:sp>
      <p:sp>
        <p:nvSpPr>
          <p:cNvPr id="3" name="Shape 1"/>
          <p:cNvSpPr/>
          <p:nvPr/>
        </p:nvSpPr>
        <p:spPr>
          <a:xfrm>
            <a:off x="0" y="960120"/>
            <a:ext cx="9144000" cy="50292"/>
          </a:xfrm>
          <a:prstGeom prst="rect">
            <a:avLst/>
          </a:prstGeom>
          <a:solidFill>
            <a:srgbClr val="7C3AED"/>
          </a:solidFill>
          <a:ln/>
        </p:spPr>
      </p:sp>
      <p:sp>
        <p:nvSpPr>
          <p:cNvPr id="4" name="Shape 2"/>
          <p:cNvSpPr/>
          <p:nvPr/>
        </p:nvSpPr>
        <p:spPr>
          <a:xfrm>
            <a:off x="0" y="0"/>
            <a:ext cx="91440" cy="960120"/>
          </a:xfrm>
          <a:prstGeom prst="rect">
            <a:avLst/>
          </a:prstGeom>
          <a:solidFill>
            <a:srgbClr val="7C3AED"/>
          </a:solidFill>
          <a:ln/>
        </p:spPr>
      </p:sp>
      <p:sp>
        <p:nvSpPr>
          <p:cNvPr id="5" name="Text 3"/>
          <p:cNvSpPr/>
          <p:nvPr/>
        </p:nvSpPr>
        <p:spPr>
          <a:xfrm>
            <a:off x="256032" y="109728"/>
            <a:ext cx="7315200" cy="457200"/>
          </a:xfrm>
          <a:prstGeom prst="rect">
            <a:avLst/>
          </a:prstGeom>
          <a:noFill/>
          <a:ln/>
        </p:spPr>
        <p:txBody>
          <a:bodyPr wrap="square" rtlCol="0" anchor="ctr"/>
          <a:lstStyle/>
          <a:p>
            <a:pPr indent="0" marL="0">
              <a:buNone/>
            </a:pPr>
            <a:r>
              <a:rPr lang="en-US" sz="2400" b="1" dirty="0">
                <a:solidFill>
                  <a:srgbClr val="FFFFFF"/>
                </a:solidFill>
              </a:rPr>
              <a:t>POC 3  —  Communication</a:t>
            </a:r>
            <a:endParaRPr lang="en-US" sz="2400" dirty="0"/>
          </a:p>
        </p:txBody>
      </p:sp>
      <p:sp>
        <p:nvSpPr>
          <p:cNvPr id="6" name="Text 4"/>
          <p:cNvSpPr/>
          <p:nvPr/>
        </p:nvSpPr>
        <p:spPr>
          <a:xfrm>
            <a:off x="256032" y="585216"/>
            <a:ext cx="8595360" cy="274320"/>
          </a:xfrm>
          <a:prstGeom prst="rect">
            <a:avLst/>
          </a:prstGeom>
          <a:noFill/>
          <a:ln/>
        </p:spPr>
        <p:txBody>
          <a:bodyPr wrap="square" rtlCol="0" anchor="ctr"/>
          <a:lstStyle/>
          <a:p>
            <a:pPr indent="0" marL="0">
              <a:buNone/>
            </a:pPr>
            <a:r>
              <a:rPr lang="en-US" sz="1000" dirty="0">
                <a:solidFill>
                  <a:srgbClr val="BDD8D8"/>
                </a:solidFill>
              </a:rPr>
              <a:t>ESP32 · GSM SIM800L / SIM900A · UART · AT Commands · SMS</a:t>
            </a:r>
            <a:endParaRPr lang="en-US" sz="1000" dirty="0"/>
          </a:p>
        </p:txBody>
      </p:sp>
      <p:sp>
        <p:nvSpPr>
          <p:cNvPr id="7" name="Shape 5"/>
          <p:cNvSpPr/>
          <p:nvPr/>
        </p:nvSpPr>
        <p:spPr>
          <a:xfrm>
            <a:off x="274320" y="1115568"/>
            <a:ext cx="5120640" cy="310896"/>
          </a:xfrm>
          <a:prstGeom prst="rect">
            <a:avLst/>
          </a:prstGeom>
          <a:solidFill>
            <a:srgbClr val="4C1D95"/>
          </a:solidFill>
          <a:ln/>
        </p:spPr>
      </p:sp>
      <p:sp>
        <p:nvSpPr>
          <p:cNvPr id="8" name="Shape 6"/>
          <p:cNvSpPr/>
          <p:nvPr/>
        </p:nvSpPr>
        <p:spPr>
          <a:xfrm>
            <a:off x="274320" y="1115568"/>
            <a:ext cx="54864" cy="310896"/>
          </a:xfrm>
          <a:prstGeom prst="rect">
            <a:avLst/>
          </a:prstGeom>
          <a:solidFill>
            <a:srgbClr val="7C3AED"/>
          </a:solidFill>
          <a:ln/>
        </p:spPr>
      </p:sp>
      <p:sp>
        <p:nvSpPr>
          <p:cNvPr id="9" name="Text 7"/>
          <p:cNvSpPr/>
          <p:nvPr/>
        </p:nvSpPr>
        <p:spPr>
          <a:xfrm>
            <a:off x="402336" y="1115568"/>
            <a:ext cx="4937760" cy="310896"/>
          </a:xfrm>
          <a:prstGeom prst="rect">
            <a:avLst/>
          </a:prstGeom>
          <a:noFill/>
          <a:ln/>
        </p:spPr>
        <p:txBody>
          <a:bodyPr wrap="square" rtlCol="0" anchor="ctr"/>
          <a:lstStyle/>
          <a:p>
            <a:pPr indent="0" marL="0">
              <a:buNone/>
            </a:pPr>
            <a:r>
              <a:rPr lang="en-US" sz="1100" b="1" dirty="0">
                <a:solidFill>
                  <a:srgbClr val="FFFFFF"/>
                </a:solidFill>
              </a:rPr>
              <a:t>Objective</a:t>
            </a:r>
            <a:endParaRPr lang="en-US" sz="1100" dirty="0"/>
          </a:p>
        </p:txBody>
      </p:sp>
      <p:sp>
        <p:nvSpPr>
          <p:cNvPr id="10" name="Shape 8"/>
          <p:cNvSpPr/>
          <p:nvPr/>
        </p:nvSpPr>
        <p:spPr>
          <a:xfrm>
            <a:off x="274320" y="1426464"/>
            <a:ext cx="5120640" cy="658368"/>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1" name="Text 9"/>
          <p:cNvSpPr/>
          <p:nvPr/>
        </p:nvSpPr>
        <p:spPr>
          <a:xfrm>
            <a:off x="402336" y="1444752"/>
            <a:ext cx="4919472" cy="621792"/>
          </a:xfrm>
          <a:prstGeom prst="rect">
            <a:avLst/>
          </a:prstGeom>
          <a:noFill/>
          <a:ln/>
        </p:spPr>
        <p:txBody>
          <a:bodyPr wrap="square" rtlCol="0" anchor="ctr"/>
          <a:lstStyle/>
          <a:p>
            <a:pPr indent="0" marL="0">
              <a:buNone/>
            </a:pPr>
            <a:r>
              <a:rPr lang="en-US" sz="1050" dirty="0">
                <a:solidFill>
                  <a:srgbClr val="1E293B"/>
                </a:solidFill>
              </a:rPr>
              <a:t>Verify that the ESP32 sends an SMS alert to the user's phone via the GSM module on ALERT, using UART communication and AT commands — with no internet or Wi-Fi required.</a:t>
            </a:r>
            <a:endParaRPr lang="en-US" sz="1050" dirty="0"/>
          </a:p>
        </p:txBody>
      </p:sp>
      <p:sp>
        <p:nvSpPr>
          <p:cNvPr id="12" name="Shape 10"/>
          <p:cNvSpPr/>
          <p:nvPr/>
        </p:nvSpPr>
        <p:spPr>
          <a:xfrm>
            <a:off x="274320" y="2194560"/>
            <a:ext cx="5120640" cy="310896"/>
          </a:xfrm>
          <a:prstGeom prst="rect">
            <a:avLst/>
          </a:prstGeom>
          <a:solidFill>
            <a:srgbClr val="4C1D95"/>
          </a:solidFill>
          <a:ln/>
        </p:spPr>
      </p:sp>
      <p:sp>
        <p:nvSpPr>
          <p:cNvPr id="13" name="Shape 11"/>
          <p:cNvSpPr/>
          <p:nvPr/>
        </p:nvSpPr>
        <p:spPr>
          <a:xfrm>
            <a:off x="274320" y="2194560"/>
            <a:ext cx="54864" cy="310896"/>
          </a:xfrm>
          <a:prstGeom prst="rect">
            <a:avLst/>
          </a:prstGeom>
          <a:solidFill>
            <a:srgbClr val="7C3AED"/>
          </a:solidFill>
          <a:ln/>
        </p:spPr>
      </p:sp>
      <p:sp>
        <p:nvSpPr>
          <p:cNvPr id="14" name="Text 12"/>
          <p:cNvSpPr/>
          <p:nvPr/>
        </p:nvSpPr>
        <p:spPr>
          <a:xfrm>
            <a:off x="402336" y="2194560"/>
            <a:ext cx="4937760" cy="310896"/>
          </a:xfrm>
          <a:prstGeom prst="rect">
            <a:avLst/>
          </a:prstGeom>
          <a:noFill/>
          <a:ln/>
        </p:spPr>
        <p:txBody>
          <a:bodyPr wrap="square" rtlCol="0" anchor="ctr"/>
          <a:lstStyle/>
          <a:p>
            <a:pPr indent="0" marL="0">
              <a:buNone/>
            </a:pPr>
            <a:r>
              <a:rPr lang="en-US" sz="1100" b="1" dirty="0">
                <a:solidFill>
                  <a:srgbClr val="FFFFFF"/>
                </a:solidFill>
              </a:rPr>
              <a:t>Hardware Connections</a:t>
            </a:r>
            <a:endParaRPr lang="en-US" sz="1100" dirty="0"/>
          </a:p>
        </p:txBody>
      </p:sp>
      <p:sp>
        <p:nvSpPr>
          <p:cNvPr id="15" name="Shape 13"/>
          <p:cNvSpPr/>
          <p:nvPr/>
        </p:nvSpPr>
        <p:spPr>
          <a:xfrm>
            <a:off x="274320" y="2505456"/>
            <a:ext cx="5120640" cy="804672"/>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6" name="Text 14"/>
          <p:cNvSpPr/>
          <p:nvPr/>
        </p:nvSpPr>
        <p:spPr>
          <a:xfrm>
            <a:off x="402336" y="2542032"/>
            <a:ext cx="4919472" cy="713232"/>
          </a:xfrm>
          <a:prstGeom prst="rect">
            <a:avLst/>
          </a:prstGeom>
          <a:noFill/>
          <a:ln/>
        </p:spPr>
        <p:txBody>
          <a:bodyPr wrap="square" rtlCol="0" anchor="ctr"/>
          <a:lstStyle/>
          <a:p>
            <a:pPr marL="342900" indent="-342900">
              <a:spcAft>
                <a:spcPts val="600"/>
              </a:spcAft>
              <a:buSzPct val="100000"/>
              <a:buChar char="•"/>
            </a:pPr>
            <a:r>
              <a:rPr lang="en-US" sz="1050" dirty="0">
                <a:solidFill>
                  <a:srgbClr val="1E293B"/>
                </a:solidFill>
              </a:rPr>
              <a:t>ESP32 TX (GPIO17)  →  GSM RX  |  ESP32 RX (GPIO16)  →  GSM TX  (Serial2)</a:t>
            </a:r>
            <a:endParaRPr lang="en-US" sz="1050" dirty="0"/>
          </a:p>
          <a:p>
            <a:pPr marL="342900" indent="-342900">
              <a:spcAft>
                <a:spcPts val="600"/>
              </a:spcAft>
              <a:buSzPct val="100000"/>
              <a:buChar char="•"/>
            </a:pPr>
            <a:r>
              <a:rPr lang="en-US" sz="1050" dirty="0">
                <a:solidFill>
                  <a:srgbClr val="1E293B"/>
                </a:solidFill>
              </a:rPr>
              <a:t>GSM powered from dedicated 4.2V / 2A supply — not from ESP32</a:t>
            </a:r>
            <a:endParaRPr lang="en-US" sz="1050" dirty="0"/>
          </a:p>
        </p:txBody>
      </p:sp>
      <p:sp>
        <p:nvSpPr>
          <p:cNvPr id="17" name="Shape 15"/>
          <p:cNvSpPr/>
          <p:nvPr/>
        </p:nvSpPr>
        <p:spPr>
          <a:xfrm>
            <a:off x="274320" y="3419856"/>
            <a:ext cx="5120640" cy="310896"/>
          </a:xfrm>
          <a:prstGeom prst="rect">
            <a:avLst/>
          </a:prstGeom>
          <a:solidFill>
            <a:srgbClr val="4C1D95"/>
          </a:solidFill>
          <a:ln/>
        </p:spPr>
      </p:sp>
      <p:sp>
        <p:nvSpPr>
          <p:cNvPr id="18" name="Shape 16"/>
          <p:cNvSpPr/>
          <p:nvPr/>
        </p:nvSpPr>
        <p:spPr>
          <a:xfrm>
            <a:off x="274320" y="3419856"/>
            <a:ext cx="54864" cy="310896"/>
          </a:xfrm>
          <a:prstGeom prst="rect">
            <a:avLst/>
          </a:prstGeom>
          <a:solidFill>
            <a:srgbClr val="7C3AED"/>
          </a:solidFill>
          <a:ln/>
        </p:spPr>
      </p:sp>
      <p:sp>
        <p:nvSpPr>
          <p:cNvPr id="19" name="Text 17"/>
          <p:cNvSpPr/>
          <p:nvPr/>
        </p:nvSpPr>
        <p:spPr>
          <a:xfrm>
            <a:off x="402336" y="3419856"/>
            <a:ext cx="4937760" cy="310896"/>
          </a:xfrm>
          <a:prstGeom prst="rect">
            <a:avLst/>
          </a:prstGeom>
          <a:noFill/>
          <a:ln/>
        </p:spPr>
        <p:txBody>
          <a:bodyPr wrap="square" rtlCol="0" anchor="ctr"/>
          <a:lstStyle/>
          <a:p>
            <a:pPr indent="0" marL="0">
              <a:buNone/>
            </a:pPr>
            <a:r>
              <a:rPr lang="en-US" sz="1100" b="1" dirty="0">
                <a:solidFill>
                  <a:srgbClr val="FFFFFF"/>
                </a:solidFill>
              </a:rPr>
              <a:t>AT Command Sequence</a:t>
            </a:r>
            <a:endParaRPr lang="en-US" sz="1100" dirty="0"/>
          </a:p>
        </p:txBody>
      </p:sp>
      <p:sp>
        <p:nvSpPr>
          <p:cNvPr id="20" name="Shape 18"/>
          <p:cNvSpPr/>
          <p:nvPr/>
        </p:nvSpPr>
        <p:spPr>
          <a:xfrm>
            <a:off x="274320" y="3730752"/>
            <a:ext cx="5120640" cy="1243584"/>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1" name="Text 19"/>
          <p:cNvSpPr/>
          <p:nvPr/>
        </p:nvSpPr>
        <p:spPr>
          <a:xfrm>
            <a:off x="402336" y="3767328"/>
            <a:ext cx="4919472" cy="1152144"/>
          </a:xfrm>
          <a:prstGeom prst="rect">
            <a:avLst/>
          </a:prstGeom>
          <a:noFill/>
          <a:ln/>
        </p:spPr>
        <p:txBody>
          <a:bodyPr wrap="square" rtlCol="0" anchor="ctr"/>
          <a:lstStyle/>
          <a:p>
            <a:pPr marL="342900" indent="-342900">
              <a:spcAft>
                <a:spcPts val="600"/>
              </a:spcAft>
              <a:buSzPct val="100000"/>
              <a:buFont typeface="+mj-lt"/>
              <a:buAutoNum type="arabicPeriod" startAt="1"/>
            </a:pPr>
            <a:r>
              <a:rPr lang="en-US" sz="1050" dirty="0">
                <a:solidFill>
                  <a:srgbClr val="1E293B"/>
                </a:solidFill>
              </a:rPr>
              <a:t>AT  →  expect OK</a:t>
            </a:r>
            <a:endParaRPr lang="en-US" sz="1050" dirty="0"/>
          </a:p>
          <a:p>
            <a:pPr marL="342900" indent="-342900">
              <a:spcAft>
                <a:spcPts val="600"/>
              </a:spcAft>
              <a:buSzPct val="100000"/>
              <a:buFont typeface="+mj-lt"/>
              <a:buAutoNum type="arabicPeriod" startAt="1"/>
            </a:pPr>
            <a:r>
              <a:rPr lang="en-US" sz="1050" dirty="0">
                <a:solidFill>
                  <a:srgbClr val="1E293B"/>
                </a:solidFill>
              </a:rPr>
              <a:t>AT+CMGF=1  →  set SMS text mode</a:t>
            </a:r>
            <a:endParaRPr lang="en-US" sz="1050" dirty="0"/>
          </a:p>
          <a:p>
            <a:pPr marL="342900" indent="-342900">
              <a:spcAft>
                <a:spcPts val="600"/>
              </a:spcAft>
              <a:buSzPct val="100000"/>
              <a:buFont typeface="+mj-lt"/>
              <a:buAutoNum type="arabicPeriod" startAt="1"/>
            </a:pPr>
            <a:r>
              <a:rPr lang="en-US" sz="1050" dirty="0">
                <a:solidFill>
                  <a:srgbClr val="1E293B"/>
                </a:solidFill>
              </a:rPr>
              <a:t>AT+CMGS="+91XXXXXXXXXX"  →  enter phone number</a:t>
            </a:r>
            <a:endParaRPr lang="en-US" sz="1050" dirty="0"/>
          </a:p>
          <a:p>
            <a:pPr marL="342900" indent="-342900">
              <a:spcAft>
                <a:spcPts val="600"/>
              </a:spcAft>
              <a:buSzPct val="100000"/>
              <a:buFont typeface="+mj-lt"/>
              <a:buAutoNum type="arabicPeriod" startAt="1"/>
            </a:pPr>
            <a:r>
              <a:rPr lang="en-US" sz="1050" dirty="0">
                <a:solidFill>
                  <a:srgbClr val="1E293B"/>
                </a:solidFill>
              </a:rPr>
              <a:t>"GAS ALERT! Leak detected. Check immediately."  →  send 0x1A</a:t>
            </a:r>
            <a:endParaRPr lang="en-US" sz="1050" dirty="0"/>
          </a:p>
        </p:txBody>
      </p:sp>
      <p:sp>
        <p:nvSpPr>
          <p:cNvPr id="22" name="Shape 20"/>
          <p:cNvSpPr/>
          <p:nvPr/>
        </p:nvSpPr>
        <p:spPr>
          <a:xfrm>
            <a:off x="5577840" y="1115568"/>
            <a:ext cx="3337560" cy="310896"/>
          </a:xfrm>
          <a:prstGeom prst="rect">
            <a:avLst/>
          </a:prstGeom>
          <a:solidFill>
            <a:srgbClr val="4C1D95"/>
          </a:solidFill>
          <a:ln/>
        </p:spPr>
      </p:sp>
      <p:sp>
        <p:nvSpPr>
          <p:cNvPr id="23" name="Shape 21"/>
          <p:cNvSpPr/>
          <p:nvPr/>
        </p:nvSpPr>
        <p:spPr>
          <a:xfrm>
            <a:off x="5577840" y="1115568"/>
            <a:ext cx="54864" cy="310896"/>
          </a:xfrm>
          <a:prstGeom prst="rect">
            <a:avLst/>
          </a:prstGeom>
          <a:solidFill>
            <a:srgbClr val="7C3AED"/>
          </a:solidFill>
          <a:ln/>
        </p:spPr>
      </p:sp>
      <p:sp>
        <p:nvSpPr>
          <p:cNvPr id="24" name="Text 22"/>
          <p:cNvSpPr/>
          <p:nvPr/>
        </p:nvSpPr>
        <p:spPr>
          <a:xfrm>
            <a:off x="5705856" y="1115568"/>
            <a:ext cx="3154680" cy="310896"/>
          </a:xfrm>
          <a:prstGeom prst="rect">
            <a:avLst/>
          </a:prstGeom>
          <a:noFill/>
          <a:ln/>
        </p:spPr>
        <p:txBody>
          <a:bodyPr wrap="square" rtlCol="0" anchor="ctr"/>
          <a:lstStyle/>
          <a:p>
            <a:pPr indent="0" marL="0">
              <a:buNone/>
            </a:pPr>
            <a:r>
              <a:rPr lang="en-US" sz="1100" b="1" dirty="0">
                <a:solidFill>
                  <a:srgbClr val="FFFFFF"/>
                </a:solidFill>
              </a:rPr>
              <a:t>Key Parameters</a:t>
            </a:r>
            <a:endParaRPr lang="en-US" sz="1100" dirty="0"/>
          </a:p>
        </p:txBody>
      </p:sp>
      <p:sp>
        <p:nvSpPr>
          <p:cNvPr id="25" name="Shape 23"/>
          <p:cNvSpPr/>
          <p:nvPr/>
        </p:nvSpPr>
        <p:spPr>
          <a:xfrm>
            <a:off x="5577840" y="1426464"/>
            <a:ext cx="3337560" cy="1133856"/>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6" name="Shape 24"/>
          <p:cNvSpPr/>
          <p:nvPr/>
        </p:nvSpPr>
        <p:spPr>
          <a:xfrm>
            <a:off x="5577840" y="1426464"/>
            <a:ext cx="3337560" cy="283464"/>
          </a:xfrm>
          <a:prstGeom prst="rect">
            <a:avLst/>
          </a:prstGeom>
          <a:solidFill>
            <a:srgbClr val="EDE9FE"/>
          </a:solidFill>
          <a:ln/>
        </p:spPr>
      </p:sp>
      <p:sp>
        <p:nvSpPr>
          <p:cNvPr id="27" name="Text 25"/>
          <p:cNvSpPr/>
          <p:nvPr/>
        </p:nvSpPr>
        <p:spPr>
          <a:xfrm>
            <a:off x="5687568" y="1426464"/>
            <a:ext cx="1280160" cy="283464"/>
          </a:xfrm>
          <a:prstGeom prst="rect">
            <a:avLst/>
          </a:prstGeom>
          <a:noFill/>
          <a:ln/>
        </p:spPr>
        <p:txBody>
          <a:bodyPr wrap="square" rtlCol="0" anchor="ctr"/>
          <a:lstStyle/>
          <a:p>
            <a:pPr indent="0" marL="0">
              <a:buNone/>
            </a:pPr>
            <a:r>
              <a:rPr lang="en-US" sz="950" b="1" dirty="0">
                <a:solidFill>
                  <a:srgbClr val="4C1D95"/>
                </a:solidFill>
              </a:rPr>
              <a:t>UART port</a:t>
            </a:r>
            <a:endParaRPr lang="en-US" sz="950" dirty="0"/>
          </a:p>
        </p:txBody>
      </p:sp>
      <p:sp>
        <p:nvSpPr>
          <p:cNvPr id="28" name="Text 26"/>
          <p:cNvSpPr/>
          <p:nvPr/>
        </p:nvSpPr>
        <p:spPr>
          <a:xfrm>
            <a:off x="6995160" y="1426464"/>
            <a:ext cx="1828800" cy="283464"/>
          </a:xfrm>
          <a:prstGeom prst="rect">
            <a:avLst/>
          </a:prstGeom>
          <a:noFill/>
          <a:ln/>
        </p:spPr>
        <p:txBody>
          <a:bodyPr wrap="square" rtlCol="0" anchor="ctr"/>
          <a:lstStyle/>
          <a:p>
            <a:pPr indent="0" marL="0">
              <a:buNone/>
            </a:pPr>
            <a:r>
              <a:rPr lang="en-US" sz="950" dirty="0">
                <a:solidFill>
                  <a:srgbClr val="1E293B"/>
                </a:solidFill>
              </a:rPr>
              <a:t>Serial2 — GPIO16/17</a:t>
            </a:r>
            <a:endParaRPr lang="en-US" sz="950" dirty="0"/>
          </a:p>
        </p:txBody>
      </p:sp>
      <p:sp>
        <p:nvSpPr>
          <p:cNvPr id="29" name="Shape 27"/>
          <p:cNvSpPr/>
          <p:nvPr/>
        </p:nvSpPr>
        <p:spPr>
          <a:xfrm>
            <a:off x="5577840" y="1709928"/>
            <a:ext cx="3337560" cy="283464"/>
          </a:xfrm>
          <a:prstGeom prst="rect">
            <a:avLst/>
          </a:prstGeom>
          <a:solidFill>
            <a:srgbClr val="FFFFFF"/>
          </a:solidFill>
          <a:ln/>
        </p:spPr>
      </p:sp>
      <p:sp>
        <p:nvSpPr>
          <p:cNvPr id="30" name="Text 28"/>
          <p:cNvSpPr/>
          <p:nvPr/>
        </p:nvSpPr>
        <p:spPr>
          <a:xfrm>
            <a:off x="5687568" y="1709928"/>
            <a:ext cx="1280160" cy="283464"/>
          </a:xfrm>
          <a:prstGeom prst="rect">
            <a:avLst/>
          </a:prstGeom>
          <a:noFill/>
          <a:ln/>
        </p:spPr>
        <p:txBody>
          <a:bodyPr wrap="square" rtlCol="0" anchor="ctr"/>
          <a:lstStyle/>
          <a:p>
            <a:pPr indent="0" marL="0">
              <a:buNone/>
            </a:pPr>
            <a:r>
              <a:rPr lang="en-US" sz="950" b="1" dirty="0">
                <a:solidFill>
                  <a:srgbClr val="4C1D95"/>
                </a:solidFill>
              </a:rPr>
              <a:t>Baud rate</a:t>
            </a:r>
            <a:endParaRPr lang="en-US" sz="950" dirty="0"/>
          </a:p>
        </p:txBody>
      </p:sp>
      <p:sp>
        <p:nvSpPr>
          <p:cNvPr id="31" name="Text 29"/>
          <p:cNvSpPr/>
          <p:nvPr/>
        </p:nvSpPr>
        <p:spPr>
          <a:xfrm>
            <a:off x="6995160" y="1709928"/>
            <a:ext cx="1828800" cy="283464"/>
          </a:xfrm>
          <a:prstGeom prst="rect">
            <a:avLst/>
          </a:prstGeom>
          <a:noFill/>
          <a:ln/>
        </p:spPr>
        <p:txBody>
          <a:bodyPr wrap="square" rtlCol="0" anchor="ctr"/>
          <a:lstStyle/>
          <a:p>
            <a:pPr indent="0" marL="0">
              <a:buNone/>
            </a:pPr>
            <a:r>
              <a:rPr lang="en-US" sz="950" dirty="0">
                <a:solidFill>
                  <a:srgbClr val="1E293B"/>
                </a:solidFill>
              </a:rPr>
              <a:t>9600 bps</a:t>
            </a:r>
            <a:endParaRPr lang="en-US" sz="950" dirty="0"/>
          </a:p>
        </p:txBody>
      </p:sp>
      <p:sp>
        <p:nvSpPr>
          <p:cNvPr id="32" name="Shape 30"/>
          <p:cNvSpPr/>
          <p:nvPr/>
        </p:nvSpPr>
        <p:spPr>
          <a:xfrm>
            <a:off x="5577840" y="1993392"/>
            <a:ext cx="3337560" cy="283464"/>
          </a:xfrm>
          <a:prstGeom prst="rect">
            <a:avLst/>
          </a:prstGeom>
          <a:solidFill>
            <a:srgbClr val="EDE9FE"/>
          </a:solidFill>
          <a:ln/>
        </p:spPr>
      </p:sp>
      <p:sp>
        <p:nvSpPr>
          <p:cNvPr id="33" name="Text 31"/>
          <p:cNvSpPr/>
          <p:nvPr/>
        </p:nvSpPr>
        <p:spPr>
          <a:xfrm>
            <a:off x="5687568" y="1993392"/>
            <a:ext cx="1280160" cy="283464"/>
          </a:xfrm>
          <a:prstGeom prst="rect">
            <a:avLst/>
          </a:prstGeom>
          <a:noFill/>
          <a:ln/>
        </p:spPr>
        <p:txBody>
          <a:bodyPr wrap="square" rtlCol="0" anchor="ctr"/>
          <a:lstStyle/>
          <a:p>
            <a:pPr indent="0" marL="0">
              <a:buNone/>
            </a:pPr>
            <a:r>
              <a:rPr lang="en-US" sz="950" b="1" dirty="0">
                <a:solidFill>
                  <a:srgbClr val="4C1D95"/>
                </a:solidFill>
              </a:rPr>
              <a:t>SMS mode</a:t>
            </a:r>
            <a:endParaRPr lang="en-US" sz="950" dirty="0"/>
          </a:p>
        </p:txBody>
      </p:sp>
      <p:sp>
        <p:nvSpPr>
          <p:cNvPr id="34" name="Text 32"/>
          <p:cNvSpPr/>
          <p:nvPr/>
        </p:nvSpPr>
        <p:spPr>
          <a:xfrm>
            <a:off x="6995160" y="1993392"/>
            <a:ext cx="1828800" cy="283464"/>
          </a:xfrm>
          <a:prstGeom prst="rect">
            <a:avLst/>
          </a:prstGeom>
          <a:noFill/>
          <a:ln/>
        </p:spPr>
        <p:txBody>
          <a:bodyPr wrap="square" rtlCol="0" anchor="ctr"/>
          <a:lstStyle/>
          <a:p>
            <a:pPr indent="0" marL="0">
              <a:buNone/>
            </a:pPr>
            <a:r>
              <a:rPr lang="en-US" sz="950" dirty="0">
                <a:solidFill>
                  <a:srgbClr val="1E293B"/>
                </a:solidFill>
              </a:rPr>
              <a:t>AT+CMGF=1 (text)</a:t>
            </a:r>
            <a:endParaRPr lang="en-US" sz="950" dirty="0"/>
          </a:p>
        </p:txBody>
      </p:sp>
      <p:sp>
        <p:nvSpPr>
          <p:cNvPr id="35" name="Shape 33"/>
          <p:cNvSpPr/>
          <p:nvPr/>
        </p:nvSpPr>
        <p:spPr>
          <a:xfrm>
            <a:off x="5577840" y="2276856"/>
            <a:ext cx="3337560" cy="283464"/>
          </a:xfrm>
          <a:prstGeom prst="rect">
            <a:avLst/>
          </a:prstGeom>
          <a:solidFill>
            <a:srgbClr val="FFFFFF"/>
          </a:solidFill>
          <a:ln/>
        </p:spPr>
      </p:sp>
      <p:sp>
        <p:nvSpPr>
          <p:cNvPr id="36" name="Text 34"/>
          <p:cNvSpPr/>
          <p:nvPr/>
        </p:nvSpPr>
        <p:spPr>
          <a:xfrm>
            <a:off x="5687568" y="2276856"/>
            <a:ext cx="1280160" cy="283464"/>
          </a:xfrm>
          <a:prstGeom prst="rect">
            <a:avLst/>
          </a:prstGeom>
          <a:noFill/>
          <a:ln/>
        </p:spPr>
        <p:txBody>
          <a:bodyPr wrap="square" rtlCol="0" anchor="ctr"/>
          <a:lstStyle/>
          <a:p>
            <a:pPr indent="0" marL="0">
              <a:buNone/>
            </a:pPr>
            <a:r>
              <a:rPr lang="en-US" sz="950" b="1" dirty="0">
                <a:solidFill>
                  <a:srgbClr val="4C1D95"/>
                </a:solidFill>
              </a:rPr>
              <a:t>Network</a:t>
            </a:r>
            <a:endParaRPr lang="en-US" sz="950" dirty="0"/>
          </a:p>
        </p:txBody>
      </p:sp>
      <p:sp>
        <p:nvSpPr>
          <p:cNvPr id="37" name="Text 35"/>
          <p:cNvSpPr/>
          <p:nvPr/>
        </p:nvSpPr>
        <p:spPr>
          <a:xfrm>
            <a:off x="6995160" y="2276856"/>
            <a:ext cx="1828800" cy="283464"/>
          </a:xfrm>
          <a:prstGeom prst="rect">
            <a:avLst/>
          </a:prstGeom>
          <a:noFill/>
          <a:ln/>
        </p:spPr>
        <p:txBody>
          <a:bodyPr wrap="square" rtlCol="0" anchor="ctr"/>
          <a:lstStyle/>
          <a:p>
            <a:pPr indent="0" marL="0">
              <a:buNone/>
            </a:pPr>
            <a:r>
              <a:rPr lang="en-US" sz="950" dirty="0">
                <a:solidFill>
                  <a:srgbClr val="1E293B"/>
                </a:solidFill>
              </a:rPr>
              <a:t>2G GSM — no internet</a:t>
            </a:r>
            <a:endParaRPr lang="en-US" sz="950" dirty="0"/>
          </a:p>
        </p:txBody>
      </p:sp>
      <p:sp>
        <p:nvSpPr>
          <p:cNvPr id="38" name="Shape 36"/>
          <p:cNvSpPr/>
          <p:nvPr/>
        </p:nvSpPr>
        <p:spPr>
          <a:xfrm>
            <a:off x="5577840" y="2651760"/>
            <a:ext cx="3337560" cy="310896"/>
          </a:xfrm>
          <a:prstGeom prst="rect">
            <a:avLst/>
          </a:prstGeom>
          <a:solidFill>
            <a:srgbClr val="4C1D95"/>
          </a:solidFill>
          <a:ln/>
        </p:spPr>
      </p:sp>
      <p:sp>
        <p:nvSpPr>
          <p:cNvPr id="39" name="Shape 37"/>
          <p:cNvSpPr/>
          <p:nvPr/>
        </p:nvSpPr>
        <p:spPr>
          <a:xfrm>
            <a:off x="5577840" y="2651760"/>
            <a:ext cx="54864" cy="310896"/>
          </a:xfrm>
          <a:prstGeom prst="rect">
            <a:avLst/>
          </a:prstGeom>
          <a:solidFill>
            <a:srgbClr val="7C3AED"/>
          </a:solidFill>
          <a:ln/>
        </p:spPr>
      </p:sp>
      <p:sp>
        <p:nvSpPr>
          <p:cNvPr id="40" name="Text 38"/>
          <p:cNvSpPr/>
          <p:nvPr/>
        </p:nvSpPr>
        <p:spPr>
          <a:xfrm>
            <a:off x="5705856" y="2651760"/>
            <a:ext cx="3154680" cy="310896"/>
          </a:xfrm>
          <a:prstGeom prst="rect">
            <a:avLst/>
          </a:prstGeom>
          <a:noFill/>
          <a:ln/>
        </p:spPr>
        <p:txBody>
          <a:bodyPr wrap="square" rtlCol="0" anchor="ctr"/>
          <a:lstStyle/>
          <a:p>
            <a:pPr indent="0" marL="0">
              <a:buNone/>
            </a:pPr>
            <a:r>
              <a:rPr lang="en-US" sz="1100" b="1" dirty="0">
                <a:solidFill>
                  <a:srgbClr val="FFFFFF"/>
                </a:solidFill>
              </a:rPr>
              <a:t>Communication Flow</a:t>
            </a:r>
            <a:endParaRPr lang="en-US" sz="1100" dirty="0"/>
          </a:p>
        </p:txBody>
      </p:sp>
      <p:sp>
        <p:nvSpPr>
          <p:cNvPr id="41" name="Shape 39"/>
          <p:cNvSpPr/>
          <p:nvPr/>
        </p:nvSpPr>
        <p:spPr>
          <a:xfrm>
            <a:off x="5577840" y="2962656"/>
            <a:ext cx="3337560" cy="530352"/>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42" name="Shape 40"/>
          <p:cNvSpPr/>
          <p:nvPr/>
        </p:nvSpPr>
        <p:spPr>
          <a:xfrm>
            <a:off x="5705856" y="2999232"/>
            <a:ext cx="579730" cy="274320"/>
          </a:xfrm>
          <a:prstGeom prst="rect">
            <a:avLst/>
          </a:prstGeom>
          <a:solidFill>
            <a:srgbClr val="1D4ED8"/>
          </a:solidFill>
          <a:ln/>
        </p:spPr>
      </p:sp>
      <p:sp>
        <p:nvSpPr>
          <p:cNvPr id="43" name="Text 41"/>
          <p:cNvSpPr/>
          <p:nvPr/>
        </p:nvSpPr>
        <p:spPr>
          <a:xfrm>
            <a:off x="5705856" y="2999232"/>
            <a:ext cx="579730" cy="274320"/>
          </a:xfrm>
          <a:prstGeom prst="rect">
            <a:avLst/>
          </a:prstGeom>
          <a:noFill/>
          <a:ln/>
        </p:spPr>
        <p:txBody>
          <a:bodyPr wrap="square" lIns="0" tIns="0" rIns="0" bIns="0" rtlCol="0" anchor="ctr"/>
          <a:lstStyle/>
          <a:p>
            <a:pPr algn="ctr" indent="0" marL="0">
              <a:buNone/>
            </a:pPr>
            <a:r>
              <a:rPr lang="en-US" sz="850" b="1" dirty="0">
                <a:solidFill>
                  <a:srgbClr val="FFFFFF"/>
                </a:solidFill>
              </a:rPr>
              <a:t>ESP32</a:t>
            </a:r>
            <a:endParaRPr lang="en-US" sz="850" dirty="0"/>
          </a:p>
        </p:txBody>
      </p:sp>
      <p:sp>
        <p:nvSpPr>
          <p:cNvPr id="44" name="Text 42"/>
          <p:cNvSpPr/>
          <p:nvPr/>
        </p:nvSpPr>
        <p:spPr>
          <a:xfrm>
            <a:off x="6322162" y="2999232"/>
            <a:ext cx="579730" cy="274320"/>
          </a:xfrm>
          <a:prstGeom prst="rect">
            <a:avLst/>
          </a:prstGeom>
          <a:noFill/>
          <a:ln/>
        </p:spPr>
        <p:txBody>
          <a:bodyPr wrap="square" rtlCol="0" anchor="ctr"/>
          <a:lstStyle/>
          <a:p>
            <a:pPr algn="ctr" indent="0" marL="0">
              <a:buNone/>
            </a:pPr>
            <a:r>
              <a:rPr lang="en-US" sz="1200" dirty="0">
                <a:solidFill>
                  <a:srgbClr val="64748B"/>
                </a:solidFill>
              </a:rPr>
              <a:t>→</a:t>
            </a:r>
            <a:endParaRPr lang="en-US" sz="1200" dirty="0"/>
          </a:p>
        </p:txBody>
      </p:sp>
      <p:sp>
        <p:nvSpPr>
          <p:cNvPr id="45" name="Shape 43"/>
          <p:cNvSpPr/>
          <p:nvPr/>
        </p:nvSpPr>
        <p:spPr>
          <a:xfrm>
            <a:off x="6938467" y="2999232"/>
            <a:ext cx="579730" cy="274320"/>
          </a:xfrm>
          <a:prstGeom prst="rect">
            <a:avLst/>
          </a:prstGeom>
          <a:solidFill>
            <a:srgbClr val="7C3AED"/>
          </a:solidFill>
          <a:ln/>
        </p:spPr>
      </p:sp>
      <p:sp>
        <p:nvSpPr>
          <p:cNvPr id="46" name="Text 44"/>
          <p:cNvSpPr/>
          <p:nvPr/>
        </p:nvSpPr>
        <p:spPr>
          <a:xfrm>
            <a:off x="6938467" y="2999232"/>
            <a:ext cx="579730" cy="274320"/>
          </a:xfrm>
          <a:prstGeom prst="rect">
            <a:avLst/>
          </a:prstGeom>
          <a:noFill/>
          <a:ln/>
        </p:spPr>
        <p:txBody>
          <a:bodyPr wrap="square" lIns="0" tIns="0" rIns="0" bIns="0" rtlCol="0" anchor="ctr"/>
          <a:lstStyle/>
          <a:p>
            <a:pPr algn="ctr" indent="0" marL="0">
              <a:buNone/>
            </a:pPr>
            <a:r>
              <a:rPr lang="en-US" sz="850" b="1" dirty="0">
                <a:solidFill>
                  <a:srgbClr val="FFFFFF"/>
                </a:solidFill>
              </a:rPr>
              <a:t>GSM</a:t>
            </a:r>
            <a:endParaRPr lang="en-US" sz="850" dirty="0"/>
          </a:p>
        </p:txBody>
      </p:sp>
      <p:sp>
        <p:nvSpPr>
          <p:cNvPr id="47" name="Text 45"/>
          <p:cNvSpPr/>
          <p:nvPr/>
        </p:nvSpPr>
        <p:spPr>
          <a:xfrm>
            <a:off x="7554773" y="2999232"/>
            <a:ext cx="579730" cy="274320"/>
          </a:xfrm>
          <a:prstGeom prst="rect">
            <a:avLst/>
          </a:prstGeom>
          <a:noFill/>
          <a:ln/>
        </p:spPr>
        <p:txBody>
          <a:bodyPr wrap="square" rtlCol="0" anchor="ctr"/>
          <a:lstStyle/>
          <a:p>
            <a:pPr algn="ctr" indent="0" marL="0">
              <a:buNone/>
            </a:pPr>
            <a:r>
              <a:rPr lang="en-US" sz="1200" dirty="0">
                <a:solidFill>
                  <a:srgbClr val="64748B"/>
                </a:solidFill>
              </a:rPr>
              <a:t>→</a:t>
            </a:r>
            <a:endParaRPr lang="en-US" sz="1200" dirty="0"/>
          </a:p>
        </p:txBody>
      </p:sp>
      <p:sp>
        <p:nvSpPr>
          <p:cNvPr id="48" name="Shape 46"/>
          <p:cNvSpPr/>
          <p:nvPr/>
        </p:nvSpPr>
        <p:spPr>
          <a:xfrm>
            <a:off x="8171078" y="2999232"/>
            <a:ext cx="579730" cy="274320"/>
          </a:xfrm>
          <a:prstGeom prst="rect">
            <a:avLst/>
          </a:prstGeom>
          <a:solidFill>
            <a:srgbClr val="0A5540"/>
          </a:solidFill>
          <a:ln/>
        </p:spPr>
      </p:sp>
      <p:sp>
        <p:nvSpPr>
          <p:cNvPr id="49" name="Text 47"/>
          <p:cNvSpPr/>
          <p:nvPr/>
        </p:nvSpPr>
        <p:spPr>
          <a:xfrm>
            <a:off x="8171078" y="2999232"/>
            <a:ext cx="579730" cy="274320"/>
          </a:xfrm>
          <a:prstGeom prst="rect">
            <a:avLst/>
          </a:prstGeom>
          <a:noFill/>
          <a:ln/>
        </p:spPr>
        <p:txBody>
          <a:bodyPr wrap="square" lIns="0" tIns="0" rIns="0" bIns="0" rtlCol="0" anchor="ctr"/>
          <a:lstStyle/>
          <a:p>
            <a:pPr algn="ctr" indent="0" marL="0">
              <a:buNone/>
            </a:pPr>
            <a:r>
              <a:rPr lang="en-US" sz="850" b="1" dirty="0">
                <a:solidFill>
                  <a:srgbClr val="FFFFFF"/>
                </a:solidFill>
              </a:rPr>
              <a:t>Phone</a:t>
            </a:r>
            <a:endParaRPr lang="en-US" sz="850" dirty="0"/>
          </a:p>
        </p:txBody>
      </p:sp>
      <p:sp>
        <p:nvSpPr>
          <p:cNvPr id="50" name="Shape 48"/>
          <p:cNvSpPr/>
          <p:nvPr/>
        </p:nvSpPr>
        <p:spPr>
          <a:xfrm>
            <a:off x="5577840" y="3584448"/>
            <a:ext cx="3337560" cy="310896"/>
          </a:xfrm>
          <a:prstGeom prst="rect">
            <a:avLst/>
          </a:prstGeom>
          <a:solidFill>
            <a:srgbClr val="15803D"/>
          </a:solidFill>
          <a:ln/>
        </p:spPr>
      </p:sp>
      <p:sp>
        <p:nvSpPr>
          <p:cNvPr id="51" name="Shape 49"/>
          <p:cNvSpPr/>
          <p:nvPr/>
        </p:nvSpPr>
        <p:spPr>
          <a:xfrm>
            <a:off x="5577840" y="3584448"/>
            <a:ext cx="54864" cy="310896"/>
          </a:xfrm>
          <a:prstGeom prst="rect">
            <a:avLst/>
          </a:prstGeom>
          <a:solidFill>
            <a:srgbClr val="15803D"/>
          </a:solidFill>
          <a:ln/>
        </p:spPr>
      </p:sp>
      <p:sp>
        <p:nvSpPr>
          <p:cNvPr id="52" name="Text 50"/>
          <p:cNvSpPr/>
          <p:nvPr/>
        </p:nvSpPr>
        <p:spPr>
          <a:xfrm>
            <a:off x="5705856" y="3584448"/>
            <a:ext cx="3154680" cy="310896"/>
          </a:xfrm>
          <a:prstGeom prst="rect">
            <a:avLst/>
          </a:prstGeom>
          <a:noFill/>
          <a:ln/>
        </p:spPr>
        <p:txBody>
          <a:bodyPr wrap="square" rtlCol="0" anchor="ctr"/>
          <a:lstStyle/>
          <a:p>
            <a:pPr indent="0" marL="0">
              <a:buNone/>
            </a:pPr>
            <a:r>
              <a:rPr lang="en-US" sz="1100" b="1" dirty="0">
                <a:solidFill>
                  <a:srgbClr val="FFFFFF"/>
                </a:solidFill>
              </a:rPr>
              <a:t>Pass Criteria</a:t>
            </a:r>
            <a:endParaRPr lang="en-US" sz="1100" dirty="0"/>
          </a:p>
        </p:txBody>
      </p:sp>
      <p:sp>
        <p:nvSpPr>
          <p:cNvPr id="53" name="Shape 51"/>
          <p:cNvSpPr/>
          <p:nvPr/>
        </p:nvSpPr>
        <p:spPr>
          <a:xfrm>
            <a:off x="5577840" y="3895344"/>
            <a:ext cx="3337560" cy="1078992"/>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54" name="Text 52"/>
          <p:cNvSpPr/>
          <p:nvPr/>
        </p:nvSpPr>
        <p:spPr>
          <a:xfrm>
            <a:off x="5705856" y="3931920"/>
            <a:ext cx="3136392" cy="987552"/>
          </a:xfrm>
          <a:prstGeom prst="rect">
            <a:avLst/>
          </a:prstGeom>
          <a:noFill/>
          <a:ln/>
        </p:spPr>
        <p:txBody>
          <a:bodyPr wrap="square" rtlCol="0" anchor="ctr"/>
          <a:lstStyle/>
          <a:p>
            <a:pPr marL="342900" indent="-342900">
              <a:spcAft>
                <a:spcPts val="600"/>
              </a:spcAft>
              <a:buSzPct val="100000"/>
              <a:buChar char="•"/>
            </a:pPr>
            <a:r>
              <a:rPr lang="en-US" sz="1000" dirty="0">
                <a:solidFill>
                  <a:srgbClr val="1E293B"/>
                </a:solidFill>
              </a:rPr>
              <a:t>SMS delivered within 10 seconds of ALERT trigger</a:t>
            </a:r>
            <a:endParaRPr lang="en-US" sz="1000" dirty="0"/>
          </a:p>
          <a:p>
            <a:pPr marL="342900" indent="-342900">
              <a:spcAft>
                <a:spcPts val="600"/>
              </a:spcAft>
              <a:buSzPct val="100000"/>
              <a:buChar char="•"/>
            </a:pPr>
            <a:r>
              <a:rPr lang="en-US" sz="1000" dirty="0">
                <a:solidFill>
                  <a:srgbClr val="1E293B"/>
                </a:solidFill>
              </a:rPr>
              <a:t>Message content correct and readable</a:t>
            </a:r>
            <a:endParaRPr lang="en-US" sz="1000" dirty="0"/>
          </a:p>
          <a:p>
            <a:pPr marL="342900" indent="-342900">
              <a:spcAft>
                <a:spcPts val="600"/>
              </a:spcAft>
              <a:buSzPct val="100000"/>
              <a:buChar char="•"/>
            </a:pPr>
            <a:r>
              <a:rPr lang="en-US" sz="1000" dirty="0">
                <a:solidFill>
                  <a:srgbClr val="1E293B"/>
                </a:solidFill>
              </a:rPr>
              <a:t>No missed alerts across 5 consecutive trigger tests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9488"/>
          </a:solidFill>
          <a:ln/>
        </p:spPr>
      </p:sp>
      <p:sp>
        <p:nvSpPr>
          <p:cNvPr id="3" name="Shape 1"/>
          <p:cNvSpPr/>
          <p:nvPr/>
        </p:nvSpPr>
        <p:spPr>
          <a:xfrm>
            <a:off x="0" y="0"/>
            <a:ext cx="91440" cy="914400"/>
          </a:xfrm>
          <a:prstGeom prst="rect">
            <a:avLst/>
          </a:prstGeom>
          <a:solidFill>
            <a:srgbClr val="0A5540"/>
          </a:solidFill>
          <a:ln/>
        </p:spPr>
      </p:sp>
      <p:sp>
        <p:nvSpPr>
          <p:cNvPr id="4" name="Text 2"/>
          <p:cNvSpPr/>
          <p:nvPr/>
        </p:nvSpPr>
        <p:spPr>
          <a:xfrm>
            <a:off x="256032" y="146304"/>
            <a:ext cx="8229600" cy="585216"/>
          </a:xfrm>
          <a:prstGeom prst="rect">
            <a:avLst/>
          </a:prstGeom>
          <a:noFill/>
          <a:ln/>
        </p:spPr>
        <p:txBody>
          <a:bodyPr wrap="square" rtlCol="0" anchor="ctr"/>
          <a:lstStyle/>
          <a:p>
            <a:pPr indent="0" marL="0">
              <a:buNone/>
            </a:pPr>
            <a:r>
              <a:rPr lang="en-US" sz="2600" b="1" dirty="0">
                <a:solidFill>
                  <a:srgbClr val="FFFFFF"/>
                </a:solidFill>
              </a:rPr>
              <a:t>Integration Roadmap</a:t>
            </a:r>
            <a:endParaRPr lang="en-US" sz="2600" dirty="0"/>
          </a:p>
        </p:txBody>
      </p:sp>
      <p:sp>
        <p:nvSpPr>
          <p:cNvPr id="5" name="Shape 3"/>
          <p:cNvSpPr/>
          <p:nvPr/>
        </p:nvSpPr>
        <p:spPr>
          <a:xfrm>
            <a:off x="182880" y="1225296"/>
            <a:ext cx="457200" cy="457200"/>
          </a:xfrm>
          <a:prstGeom prst="ellipse">
            <a:avLst/>
          </a:prstGeom>
          <a:solidFill>
            <a:srgbClr val="D97706"/>
          </a:solidFill>
          <a:ln/>
        </p:spPr>
      </p:sp>
      <p:sp>
        <p:nvSpPr>
          <p:cNvPr id="6" name="Text 4"/>
          <p:cNvSpPr/>
          <p:nvPr/>
        </p:nvSpPr>
        <p:spPr>
          <a:xfrm>
            <a:off x="182880" y="122529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Shape 5"/>
          <p:cNvSpPr/>
          <p:nvPr/>
        </p:nvSpPr>
        <p:spPr>
          <a:xfrm>
            <a:off x="397764" y="1700784"/>
            <a:ext cx="27432" cy="274320"/>
          </a:xfrm>
          <a:prstGeom prst="rect">
            <a:avLst/>
          </a:prstGeom>
          <a:solidFill>
            <a:srgbClr val="D97706"/>
          </a:solidFill>
          <a:ln/>
        </p:spPr>
      </p:sp>
      <p:sp>
        <p:nvSpPr>
          <p:cNvPr id="8" name="Shape 6"/>
          <p:cNvSpPr/>
          <p:nvPr/>
        </p:nvSpPr>
        <p:spPr>
          <a:xfrm>
            <a:off x="804672" y="1005840"/>
            <a:ext cx="8119872" cy="841248"/>
          </a:xfrm>
          <a:prstGeom prst="rect">
            <a:avLst/>
          </a:prstGeom>
          <a:solidFill>
            <a:srgbClr val="0F2132"/>
          </a:solidFill>
          <a:ln/>
          <a:effectLst>
            <a:outerShdw sx="100000" sy="100000" kx="0" ky="0" algn="bl" rotWithShape="0" blurRad="101600" dist="38100" dir="8100000">
              <a:srgbClr val="000000">
                <a:alpha val="12000"/>
              </a:srgbClr>
            </a:outerShdw>
          </a:effectLst>
        </p:spPr>
      </p:sp>
      <p:sp>
        <p:nvSpPr>
          <p:cNvPr id="9" name="Shape 7"/>
          <p:cNvSpPr/>
          <p:nvPr/>
        </p:nvSpPr>
        <p:spPr>
          <a:xfrm>
            <a:off x="804672" y="1005840"/>
            <a:ext cx="64008" cy="841248"/>
          </a:xfrm>
          <a:prstGeom prst="rect">
            <a:avLst/>
          </a:prstGeom>
          <a:solidFill>
            <a:srgbClr val="D97706"/>
          </a:solidFill>
          <a:ln/>
        </p:spPr>
      </p:sp>
      <p:sp>
        <p:nvSpPr>
          <p:cNvPr id="10" name="Shape 8"/>
          <p:cNvSpPr/>
          <p:nvPr/>
        </p:nvSpPr>
        <p:spPr>
          <a:xfrm>
            <a:off x="896112" y="1078992"/>
            <a:ext cx="777240" cy="201168"/>
          </a:xfrm>
          <a:prstGeom prst="rect">
            <a:avLst/>
          </a:prstGeom>
          <a:solidFill>
            <a:srgbClr val="D97706">
              <a:alpha val="80000"/>
            </a:srgbClr>
          </a:solidFill>
          <a:ln/>
        </p:spPr>
      </p:sp>
      <p:sp>
        <p:nvSpPr>
          <p:cNvPr id="11" name="Text 9"/>
          <p:cNvSpPr/>
          <p:nvPr/>
        </p:nvSpPr>
        <p:spPr>
          <a:xfrm>
            <a:off x="896112" y="1078992"/>
            <a:ext cx="777240" cy="201168"/>
          </a:xfrm>
          <a:prstGeom prst="rect">
            <a:avLst/>
          </a:prstGeom>
          <a:noFill/>
          <a:ln/>
        </p:spPr>
        <p:txBody>
          <a:bodyPr wrap="square" lIns="0" tIns="0" rIns="0" bIns="0" rtlCol="0" anchor="ctr"/>
          <a:lstStyle/>
          <a:p>
            <a:pPr algn="ctr" indent="0" marL="0">
              <a:buNone/>
            </a:pPr>
            <a:r>
              <a:rPr lang="en-US" sz="800" b="1" dirty="0">
                <a:solidFill>
                  <a:srgbClr val="FFFFFF"/>
                </a:solidFill>
              </a:rPr>
              <a:t>Phase 1</a:t>
            </a:r>
            <a:endParaRPr lang="en-US" sz="800" dirty="0"/>
          </a:p>
        </p:txBody>
      </p:sp>
      <p:sp>
        <p:nvSpPr>
          <p:cNvPr id="12" name="Text 10"/>
          <p:cNvSpPr/>
          <p:nvPr/>
        </p:nvSpPr>
        <p:spPr>
          <a:xfrm>
            <a:off x="1755648" y="1060704"/>
            <a:ext cx="5029200" cy="274320"/>
          </a:xfrm>
          <a:prstGeom prst="rect">
            <a:avLst/>
          </a:prstGeom>
          <a:noFill/>
          <a:ln/>
        </p:spPr>
        <p:txBody>
          <a:bodyPr wrap="square" rtlCol="0" anchor="ctr"/>
          <a:lstStyle/>
          <a:p>
            <a:pPr indent="0" marL="0">
              <a:buNone/>
            </a:pPr>
            <a:r>
              <a:rPr lang="en-US" sz="1300" b="1" dirty="0">
                <a:solidFill>
                  <a:srgbClr val="FFFFFF"/>
                </a:solidFill>
              </a:rPr>
              <a:t>POC 1  —  Data Validation</a:t>
            </a:r>
            <a:endParaRPr lang="en-US" sz="1300" dirty="0"/>
          </a:p>
        </p:txBody>
      </p:sp>
      <p:sp>
        <p:nvSpPr>
          <p:cNvPr id="13" name="Text 11"/>
          <p:cNvSpPr/>
          <p:nvPr/>
        </p:nvSpPr>
        <p:spPr>
          <a:xfrm>
            <a:off x="932688" y="1389888"/>
            <a:ext cx="6949440" cy="384048"/>
          </a:xfrm>
          <a:prstGeom prst="rect">
            <a:avLst/>
          </a:prstGeom>
          <a:noFill/>
          <a:ln/>
        </p:spPr>
        <p:txBody>
          <a:bodyPr wrap="square" rtlCol="0" anchor="ctr"/>
          <a:lstStyle/>
          <a:p>
            <a:pPr indent="0" marL="0">
              <a:buNone/>
            </a:pPr>
            <a:r>
              <a:rPr lang="en-US" sz="950" dirty="0">
                <a:solidFill>
                  <a:srgbClr val="94A3B8"/>
                </a:solidFill>
              </a:rPr>
              <a:t>MQ-6 + LM35 → ESP32 ADC → Serial monitor. No actuators. Validate sensor readings and IDLE → ALERT threshold logic.</a:t>
            </a:r>
            <a:endParaRPr lang="en-US" sz="950" dirty="0"/>
          </a:p>
        </p:txBody>
      </p:sp>
      <p:sp>
        <p:nvSpPr>
          <p:cNvPr id="14" name="Shape 12"/>
          <p:cNvSpPr/>
          <p:nvPr/>
        </p:nvSpPr>
        <p:spPr>
          <a:xfrm>
            <a:off x="7772400" y="1280160"/>
            <a:ext cx="1097280" cy="256032"/>
          </a:xfrm>
          <a:prstGeom prst="rect">
            <a:avLst/>
          </a:prstGeom>
          <a:solidFill>
            <a:srgbClr val="64748B"/>
          </a:solidFill>
          <a:ln/>
        </p:spPr>
      </p:sp>
      <p:sp>
        <p:nvSpPr>
          <p:cNvPr id="15" name="Text 13"/>
          <p:cNvSpPr/>
          <p:nvPr/>
        </p:nvSpPr>
        <p:spPr>
          <a:xfrm>
            <a:off x="7772400" y="1280160"/>
            <a:ext cx="1097280" cy="256032"/>
          </a:xfrm>
          <a:prstGeom prst="rect">
            <a:avLst/>
          </a:prstGeom>
          <a:noFill/>
          <a:ln/>
        </p:spPr>
        <p:txBody>
          <a:bodyPr wrap="square" lIns="0" tIns="0" rIns="0" bIns="0" rtlCol="0" anchor="ctr"/>
          <a:lstStyle/>
          <a:p>
            <a:pPr algn="ctr" indent="0" marL="0">
              <a:buNone/>
            </a:pPr>
            <a:r>
              <a:rPr lang="en-US" sz="900" b="1" dirty="0">
                <a:solidFill>
                  <a:srgbClr val="FFFFFF"/>
                </a:solidFill>
              </a:rPr>
              <a:t>Standalone</a:t>
            </a:r>
            <a:endParaRPr lang="en-US" sz="900" dirty="0"/>
          </a:p>
        </p:txBody>
      </p:sp>
      <p:sp>
        <p:nvSpPr>
          <p:cNvPr id="16" name="Shape 14"/>
          <p:cNvSpPr/>
          <p:nvPr/>
        </p:nvSpPr>
        <p:spPr>
          <a:xfrm>
            <a:off x="182880" y="2194560"/>
            <a:ext cx="457200" cy="457200"/>
          </a:xfrm>
          <a:prstGeom prst="ellipse">
            <a:avLst/>
          </a:prstGeom>
          <a:solidFill>
            <a:srgbClr val="1D4ED8"/>
          </a:solidFill>
          <a:ln/>
        </p:spPr>
      </p:sp>
      <p:sp>
        <p:nvSpPr>
          <p:cNvPr id="17" name="Text 15"/>
          <p:cNvSpPr/>
          <p:nvPr/>
        </p:nvSpPr>
        <p:spPr>
          <a:xfrm>
            <a:off x="182880" y="21945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8" name="Shape 16"/>
          <p:cNvSpPr/>
          <p:nvPr/>
        </p:nvSpPr>
        <p:spPr>
          <a:xfrm>
            <a:off x="397764" y="2670048"/>
            <a:ext cx="27432" cy="274320"/>
          </a:xfrm>
          <a:prstGeom prst="rect">
            <a:avLst/>
          </a:prstGeom>
          <a:solidFill>
            <a:srgbClr val="1D4ED8"/>
          </a:solidFill>
          <a:ln/>
        </p:spPr>
      </p:sp>
      <p:sp>
        <p:nvSpPr>
          <p:cNvPr id="19" name="Shape 17"/>
          <p:cNvSpPr/>
          <p:nvPr/>
        </p:nvSpPr>
        <p:spPr>
          <a:xfrm>
            <a:off x="804672" y="1975104"/>
            <a:ext cx="8119872" cy="841248"/>
          </a:xfrm>
          <a:prstGeom prst="rect">
            <a:avLst/>
          </a:prstGeom>
          <a:solidFill>
            <a:srgbClr val="0F2132"/>
          </a:solidFill>
          <a:ln/>
          <a:effectLst>
            <a:outerShdw sx="100000" sy="100000" kx="0" ky="0" algn="bl" rotWithShape="0" blurRad="101600" dist="38100" dir="8100000">
              <a:srgbClr val="000000">
                <a:alpha val="12000"/>
              </a:srgbClr>
            </a:outerShdw>
          </a:effectLst>
        </p:spPr>
      </p:sp>
      <p:sp>
        <p:nvSpPr>
          <p:cNvPr id="20" name="Shape 18"/>
          <p:cNvSpPr/>
          <p:nvPr/>
        </p:nvSpPr>
        <p:spPr>
          <a:xfrm>
            <a:off x="804672" y="1975104"/>
            <a:ext cx="64008" cy="841248"/>
          </a:xfrm>
          <a:prstGeom prst="rect">
            <a:avLst/>
          </a:prstGeom>
          <a:solidFill>
            <a:srgbClr val="1D4ED8"/>
          </a:solidFill>
          <a:ln/>
        </p:spPr>
      </p:sp>
      <p:sp>
        <p:nvSpPr>
          <p:cNvPr id="21" name="Shape 19"/>
          <p:cNvSpPr/>
          <p:nvPr/>
        </p:nvSpPr>
        <p:spPr>
          <a:xfrm>
            <a:off x="896112" y="2048256"/>
            <a:ext cx="777240" cy="201168"/>
          </a:xfrm>
          <a:prstGeom prst="rect">
            <a:avLst/>
          </a:prstGeom>
          <a:solidFill>
            <a:srgbClr val="1D4ED8">
              <a:alpha val="80000"/>
            </a:srgbClr>
          </a:solidFill>
          <a:ln/>
        </p:spPr>
      </p:sp>
      <p:sp>
        <p:nvSpPr>
          <p:cNvPr id="22" name="Text 20"/>
          <p:cNvSpPr/>
          <p:nvPr/>
        </p:nvSpPr>
        <p:spPr>
          <a:xfrm>
            <a:off x="896112" y="2048256"/>
            <a:ext cx="777240" cy="201168"/>
          </a:xfrm>
          <a:prstGeom prst="rect">
            <a:avLst/>
          </a:prstGeom>
          <a:noFill/>
          <a:ln/>
        </p:spPr>
        <p:txBody>
          <a:bodyPr wrap="square" lIns="0" tIns="0" rIns="0" bIns="0" rtlCol="0" anchor="ctr"/>
          <a:lstStyle/>
          <a:p>
            <a:pPr algn="ctr" indent="0" marL="0">
              <a:buNone/>
            </a:pPr>
            <a:r>
              <a:rPr lang="en-US" sz="800" b="1" dirty="0">
                <a:solidFill>
                  <a:srgbClr val="FFFFFF"/>
                </a:solidFill>
              </a:rPr>
              <a:t>Phase 2</a:t>
            </a:r>
            <a:endParaRPr lang="en-US" sz="800" dirty="0"/>
          </a:p>
        </p:txBody>
      </p:sp>
      <p:sp>
        <p:nvSpPr>
          <p:cNvPr id="23" name="Text 21"/>
          <p:cNvSpPr/>
          <p:nvPr/>
        </p:nvSpPr>
        <p:spPr>
          <a:xfrm>
            <a:off x="1755648" y="2029968"/>
            <a:ext cx="5029200" cy="274320"/>
          </a:xfrm>
          <a:prstGeom prst="rect">
            <a:avLst/>
          </a:prstGeom>
          <a:noFill/>
          <a:ln/>
        </p:spPr>
        <p:txBody>
          <a:bodyPr wrap="square" rtlCol="0" anchor="ctr"/>
          <a:lstStyle/>
          <a:p>
            <a:pPr indent="0" marL="0">
              <a:buNone/>
            </a:pPr>
            <a:r>
              <a:rPr lang="en-US" sz="1300" b="1" dirty="0">
                <a:solidFill>
                  <a:srgbClr val="FFFFFF"/>
                </a:solidFill>
              </a:rPr>
              <a:t>POC 2  —  Control Logic</a:t>
            </a:r>
            <a:endParaRPr lang="en-US" sz="1300" dirty="0"/>
          </a:p>
        </p:txBody>
      </p:sp>
      <p:sp>
        <p:nvSpPr>
          <p:cNvPr id="24" name="Text 22"/>
          <p:cNvSpPr/>
          <p:nvPr/>
        </p:nvSpPr>
        <p:spPr>
          <a:xfrm>
            <a:off x="932688" y="2359152"/>
            <a:ext cx="6949440" cy="384048"/>
          </a:xfrm>
          <a:prstGeom prst="rect">
            <a:avLst/>
          </a:prstGeom>
          <a:noFill/>
          <a:ln/>
        </p:spPr>
        <p:txBody>
          <a:bodyPr wrap="square" rtlCol="0" anchor="ctr"/>
          <a:lstStyle/>
          <a:p>
            <a:pPr indent="0" marL="0">
              <a:buNone/>
            </a:pPr>
            <a:r>
              <a:rPr lang="en-US" sz="950" dirty="0">
                <a:solidFill>
                  <a:srgbClr val="94A3B8"/>
                </a:solidFill>
              </a:rPr>
              <a:t>ESP32 → Relay → Exhaust Fan + Buzzer. Triggered manually. Fan turns off via code when PPM clears. Solenoid valve shut off manually.</a:t>
            </a:r>
            <a:endParaRPr lang="en-US" sz="950" dirty="0"/>
          </a:p>
        </p:txBody>
      </p:sp>
      <p:sp>
        <p:nvSpPr>
          <p:cNvPr id="25" name="Shape 23"/>
          <p:cNvSpPr/>
          <p:nvPr/>
        </p:nvSpPr>
        <p:spPr>
          <a:xfrm>
            <a:off x="7772400" y="2249424"/>
            <a:ext cx="1097280" cy="256032"/>
          </a:xfrm>
          <a:prstGeom prst="rect">
            <a:avLst/>
          </a:prstGeom>
          <a:solidFill>
            <a:srgbClr val="64748B"/>
          </a:solidFill>
          <a:ln/>
        </p:spPr>
      </p:sp>
      <p:sp>
        <p:nvSpPr>
          <p:cNvPr id="26" name="Text 24"/>
          <p:cNvSpPr/>
          <p:nvPr/>
        </p:nvSpPr>
        <p:spPr>
          <a:xfrm>
            <a:off x="7772400" y="2249424"/>
            <a:ext cx="1097280" cy="256032"/>
          </a:xfrm>
          <a:prstGeom prst="rect">
            <a:avLst/>
          </a:prstGeom>
          <a:noFill/>
          <a:ln/>
        </p:spPr>
        <p:txBody>
          <a:bodyPr wrap="square" lIns="0" tIns="0" rIns="0" bIns="0" rtlCol="0" anchor="ctr"/>
          <a:lstStyle/>
          <a:p>
            <a:pPr algn="ctr" indent="0" marL="0">
              <a:buNone/>
            </a:pPr>
            <a:r>
              <a:rPr lang="en-US" sz="900" b="1" dirty="0">
                <a:solidFill>
                  <a:srgbClr val="FFFFFF"/>
                </a:solidFill>
              </a:rPr>
              <a:t>Standalone</a:t>
            </a:r>
            <a:endParaRPr lang="en-US" sz="900" dirty="0"/>
          </a:p>
        </p:txBody>
      </p:sp>
      <p:sp>
        <p:nvSpPr>
          <p:cNvPr id="27" name="Shape 25"/>
          <p:cNvSpPr/>
          <p:nvPr/>
        </p:nvSpPr>
        <p:spPr>
          <a:xfrm>
            <a:off x="182880" y="3163824"/>
            <a:ext cx="457200" cy="457200"/>
          </a:xfrm>
          <a:prstGeom prst="ellipse">
            <a:avLst/>
          </a:prstGeom>
          <a:solidFill>
            <a:srgbClr val="7C3AED"/>
          </a:solidFill>
          <a:ln/>
        </p:spPr>
      </p:sp>
      <p:sp>
        <p:nvSpPr>
          <p:cNvPr id="28" name="Text 26"/>
          <p:cNvSpPr/>
          <p:nvPr/>
        </p:nvSpPr>
        <p:spPr>
          <a:xfrm>
            <a:off x="182880" y="316382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29" name="Shape 27"/>
          <p:cNvSpPr/>
          <p:nvPr/>
        </p:nvSpPr>
        <p:spPr>
          <a:xfrm>
            <a:off x="397764" y="3639312"/>
            <a:ext cx="27432" cy="274320"/>
          </a:xfrm>
          <a:prstGeom prst="rect">
            <a:avLst/>
          </a:prstGeom>
          <a:solidFill>
            <a:srgbClr val="7C3AED"/>
          </a:solidFill>
          <a:ln/>
        </p:spPr>
      </p:sp>
      <p:sp>
        <p:nvSpPr>
          <p:cNvPr id="30" name="Shape 28"/>
          <p:cNvSpPr/>
          <p:nvPr/>
        </p:nvSpPr>
        <p:spPr>
          <a:xfrm>
            <a:off x="804672" y="2944368"/>
            <a:ext cx="8119872" cy="841248"/>
          </a:xfrm>
          <a:prstGeom prst="rect">
            <a:avLst/>
          </a:prstGeom>
          <a:solidFill>
            <a:srgbClr val="0F2132"/>
          </a:solidFill>
          <a:ln/>
          <a:effectLst>
            <a:outerShdw sx="100000" sy="100000" kx="0" ky="0" algn="bl" rotWithShape="0" blurRad="101600" dist="38100" dir="8100000">
              <a:srgbClr val="000000">
                <a:alpha val="12000"/>
              </a:srgbClr>
            </a:outerShdw>
          </a:effectLst>
        </p:spPr>
      </p:sp>
      <p:sp>
        <p:nvSpPr>
          <p:cNvPr id="31" name="Shape 29"/>
          <p:cNvSpPr/>
          <p:nvPr/>
        </p:nvSpPr>
        <p:spPr>
          <a:xfrm>
            <a:off x="804672" y="2944368"/>
            <a:ext cx="64008" cy="841248"/>
          </a:xfrm>
          <a:prstGeom prst="rect">
            <a:avLst/>
          </a:prstGeom>
          <a:solidFill>
            <a:srgbClr val="7C3AED"/>
          </a:solidFill>
          <a:ln/>
        </p:spPr>
      </p:sp>
      <p:sp>
        <p:nvSpPr>
          <p:cNvPr id="32" name="Shape 30"/>
          <p:cNvSpPr/>
          <p:nvPr/>
        </p:nvSpPr>
        <p:spPr>
          <a:xfrm>
            <a:off x="896112" y="3017520"/>
            <a:ext cx="777240" cy="201168"/>
          </a:xfrm>
          <a:prstGeom prst="rect">
            <a:avLst/>
          </a:prstGeom>
          <a:solidFill>
            <a:srgbClr val="7C3AED">
              <a:alpha val="80000"/>
            </a:srgbClr>
          </a:solidFill>
          <a:ln/>
        </p:spPr>
      </p:sp>
      <p:sp>
        <p:nvSpPr>
          <p:cNvPr id="33" name="Text 31"/>
          <p:cNvSpPr/>
          <p:nvPr/>
        </p:nvSpPr>
        <p:spPr>
          <a:xfrm>
            <a:off x="896112" y="3017520"/>
            <a:ext cx="777240" cy="201168"/>
          </a:xfrm>
          <a:prstGeom prst="rect">
            <a:avLst/>
          </a:prstGeom>
          <a:noFill/>
          <a:ln/>
        </p:spPr>
        <p:txBody>
          <a:bodyPr wrap="square" lIns="0" tIns="0" rIns="0" bIns="0" rtlCol="0" anchor="ctr"/>
          <a:lstStyle/>
          <a:p>
            <a:pPr algn="ctr" indent="0" marL="0">
              <a:buNone/>
            </a:pPr>
            <a:r>
              <a:rPr lang="en-US" sz="800" b="1" dirty="0">
                <a:solidFill>
                  <a:srgbClr val="FFFFFF"/>
                </a:solidFill>
              </a:rPr>
              <a:t>Phase 3</a:t>
            </a:r>
            <a:endParaRPr lang="en-US" sz="800" dirty="0"/>
          </a:p>
        </p:txBody>
      </p:sp>
      <p:sp>
        <p:nvSpPr>
          <p:cNvPr id="34" name="Text 32"/>
          <p:cNvSpPr/>
          <p:nvPr/>
        </p:nvSpPr>
        <p:spPr>
          <a:xfrm>
            <a:off x="1755648" y="2999232"/>
            <a:ext cx="5029200" cy="274320"/>
          </a:xfrm>
          <a:prstGeom prst="rect">
            <a:avLst/>
          </a:prstGeom>
          <a:noFill/>
          <a:ln/>
        </p:spPr>
        <p:txBody>
          <a:bodyPr wrap="square" rtlCol="0" anchor="ctr"/>
          <a:lstStyle/>
          <a:p>
            <a:pPr indent="0" marL="0">
              <a:buNone/>
            </a:pPr>
            <a:r>
              <a:rPr lang="en-US" sz="1300" b="1" dirty="0">
                <a:solidFill>
                  <a:srgbClr val="FFFFFF"/>
                </a:solidFill>
              </a:rPr>
              <a:t>POC 3  —  Communication</a:t>
            </a:r>
            <a:endParaRPr lang="en-US" sz="1300" dirty="0"/>
          </a:p>
        </p:txBody>
      </p:sp>
      <p:sp>
        <p:nvSpPr>
          <p:cNvPr id="35" name="Text 33"/>
          <p:cNvSpPr/>
          <p:nvPr/>
        </p:nvSpPr>
        <p:spPr>
          <a:xfrm>
            <a:off x="932688" y="3328416"/>
            <a:ext cx="6949440" cy="384048"/>
          </a:xfrm>
          <a:prstGeom prst="rect">
            <a:avLst/>
          </a:prstGeom>
          <a:noFill/>
          <a:ln/>
        </p:spPr>
        <p:txBody>
          <a:bodyPr wrap="square" rtlCol="0" anchor="ctr"/>
          <a:lstStyle/>
          <a:p>
            <a:pPr indent="0" marL="0">
              <a:buNone/>
            </a:pPr>
            <a:r>
              <a:rPr lang="en-US" sz="950" dirty="0">
                <a:solidFill>
                  <a:srgbClr val="94A3B8"/>
                </a:solidFill>
              </a:rPr>
              <a:t>ESP32 → GSM SIM800/900A. Triggered manually. Validate UART link and SMS delivery across 5 consecutive tests.</a:t>
            </a:r>
            <a:endParaRPr lang="en-US" sz="950" dirty="0"/>
          </a:p>
        </p:txBody>
      </p:sp>
      <p:sp>
        <p:nvSpPr>
          <p:cNvPr id="36" name="Shape 34"/>
          <p:cNvSpPr/>
          <p:nvPr/>
        </p:nvSpPr>
        <p:spPr>
          <a:xfrm>
            <a:off x="7772400" y="3218688"/>
            <a:ext cx="1097280" cy="256032"/>
          </a:xfrm>
          <a:prstGeom prst="rect">
            <a:avLst/>
          </a:prstGeom>
          <a:solidFill>
            <a:srgbClr val="64748B"/>
          </a:solidFill>
          <a:ln/>
        </p:spPr>
      </p:sp>
      <p:sp>
        <p:nvSpPr>
          <p:cNvPr id="37" name="Text 35"/>
          <p:cNvSpPr/>
          <p:nvPr/>
        </p:nvSpPr>
        <p:spPr>
          <a:xfrm>
            <a:off x="7772400" y="3218688"/>
            <a:ext cx="1097280" cy="256032"/>
          </a:xfrm>
          <a:prstGeom prst="rect">
            <a:avLst/>
          </a:prstGeom>
          <a:noFill/>
          <a:ln/>
        </p:spPr>
        <p:txBody>
          <a:bodyPr wrap="square" lIns="0" tIns="0" rIns="0" bIns="0" rtlCol="0" anchor="ctr"/>
          <a:lstStyle/>
          <a:p>
            <a:pPr algn="ctr" indent="0" marL="0">
              <a:buNone/>
            </a:pPr>
            <a:r>
              <a:rPr lang="en-US" sz="900" b="1" dirty="0">
                <a:solidFill>
                  <a:srgbClr val="FFFFFF"/>
                </a:solidFill>
              </a:rPr>
              <a:t>Standalone</a:t>
            </a:r>
            <a:endParaRPr lang="en-US" sz="900" dirty="0"/>
          </a:p>
        </p:txBody>
      </p:sp>
      <p:sp>
        <p:nvSpPr>
          <p:cNvPr id="38" name="Shape 36"/>
          <p:cNvSpPr/>
          <p:nvPr/>
        </p:nvSpPr>
        <p:spPr>
          <a:xfrm>
            <a:off x="182880" y="4133088"/>
            <a:ext cx="457200" cy="457200"/>
          </a:xfrm>
          <a:prstGeom prst="ellipse">
            <a:avLst/>
          </a:prstGeom>
          <a:solidFill>
            <a:srgbClr val="0D9488"/>
          </a:solidFill>
          <a:ln/>
        </p:spPr>
      </p:sp>
      <p:sp>
        <p:nvSpPr>
          <p:cNvPr id="39" name="Text 37"/>
          <p:cNvSpPr/>
          <p:nvPr/>
        </p:nvSpPr>
        <p:spPr>
          <a:xfrm>
            <a:off x="182880" y="413308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40" name="Shape 38"/>
          <p:cNvSpPr/>
          <p:nvPr/>
        </p:nvSpPr>
        <p:spPr>
          <a:xfrm>
            <a:off x="804672" y="3913632"/>
            <a:ext cx="8119872" cy="841248"/>
          </a:xfrm>
          <a:prstGeom prst="rect">
            <a:avLst/>
          </a:prstGeom>
          <a:solidFill>
            <a:srgbClr val="0F2132"/>
          </a:solidFill>
          <a:ln/>
          <a:effectLst>
            <a:outerShdw sx="100000" sy="100000" kx="0" ky="0" algn="bl" rotWithShape="0" blurRad="101600" dist="38100" dir="8100000">
              <a:srgbClr val="000000">
                <a:alpha val="12000"/>
              </a:srgbClr>
            </a:outerShdw>
          </a:effectLst>
        </p:spPr>
      </p:sp>
      <p:sp>
        <p:nvSpPr>
          <p:cNvPr id="41" name="Shape 39"/>
          <p:cNvSpPr/>
          <p:nvPr/>
        </p:nvSpPr>
        <p:spPr>
          <a:xfrm>
            <a:off x="804672" y="3913632"/>
            <a:ext cx="64008" cy="841248"/>
          </a:xfrm>
          <a:prstGeom prst="rect">
            <a:avLst/>
          </a:prstGeom>
          <a:solidFill>
            <a:srgbClr val="0D9488"/>
          </a:solidFill>
          <a:ln/>
        </p:spPr>
      </p:sp>
      <p:sp>
        <p:nvSpPr>
          <p:cNvPr id="42" name="Shape 40"/>
          <p:cNvSpPr/>
          <p:nvPr/>
        </p:nvSpPr>
        <p:spPr>
          <a:xfrm>
            <a:off x="896112" y="3986784"/>
            <a:ext cx="777240" cy="201168"/>
          </a:xfrm>
          <a:prstGeom prst="rect">
            <a:avLst/>
          </a:prstGeom>
          <a:solidFill>
            <a:srgbClr val="0D9488">
              <a:alpha val="80000"/>
            </a:srgbClr>
          </a:solidFill>
          <a:ln/>
        </p:spPr>
      </p:sp>
      <p:sp>
        <p:nvSpPr>
          <p:cNvPr id="43" name="Text 41"/>
          <p:cNvSpPr/>
          <p:nvPr/>
        </p:nvSpPr>
        <p:spPr>
          <a:xfrm>
            <a:off x="896112" y="3986784"/>
            <a:ext cx="777240" cy="201168"/>
          </a:xfrm>
          <a:prstGeom prst="rect">
            <a:avLst/>
          </a:prstGeom>
          <a:noFill/>
          <a:ln/>
        </p:spPr>
        <p:txBody>
          <a:bodyPr wrap="square" lIns="0" tIns="0" rIns="0" bIns="0" rtlCol="0" anchor="ctr"/>
          <a:lstStyle/>
          <a:p>
            <a:pPr algn="ctr" indent="0" marL="0">
              <a:buNone/>
            </a:pPr>
            <a:r>
              <a:rPr lang="en-US" sz="800" b="1" dirty="0">
                <a:solidFill>
                  <a:srgbClr val="FFFFFF"/>
                </a:solidFill>
              </a:rPr>
              <a:t>Phase 4</a:t>
            </a:r>
            <a:endParaRPr lang="en-US" sz="800" dirty="0"/>
          </a:p>
        </p:txBody>
      </p:sp>
      <p:sp>
        <p:nvSpPr>
          <p:cNvPr id="44" name="Text 42"/>
          <p:cNvSpPr/>
          <p:nvPr/>
        </p:nvSpPr>
        <p:spPr>
          <a:xfrm>
            <a:off x="1755648" y="3968496"/>
            <a:ext cx="5029200" cy="274320"/>
          </a:xfrm>
          <a:prstGeom prst="rect">
            <a:avLst/>
          </a:prstGeom>
          <a:noFill/>
          <a:ln/>
        </p:spPr>
        <p:txBody>
          <a:bodyPr wrap="square" rtlCol="0" anchor="ctr"/>
          <a:lstStyle/>
          <a:p>
            <a:pPr indent="0" marL="0">
              <a:buNone/>
            </a:pPr>
            <a:r>
              <a:rPr lang="en-US" sz="1300" b="1" dirty="0">
                <a:solidFill>
                  <a:srgbClr val="FFFFFF"/>
                </a:solidFill>
              </a:rPr>
              <a:t>Full System Integration</a:t>
            </a:r>
            <a:endParaRPr lang="en-US" sz="1300" dirty="0"/>
          </a:p>
        </p:txBody>
      </p:sp>
      <p:sp>
        <p:nvSpPr>
          <p:cNvPr id="45" name="Text 43"/>
          <p:cNvSpPr/>
          <p:nvPr/>
        </p:nvSpPr>
        <p:spPr>
          <a:xfrm>
            <a:off x="932688" y="4297680"/>
            <a:ext cx="6949440" cy="384048"/>
          </a:xfrm>
          <a:prstGeom prst="rect">
            <a:avLst/>
          </a:prstGeom>
          <a:noFill/>
          <a:ln/>
        </p:spPr>
        <p:txBody>
          <a:bodyPr wrap="square" rtlCol="0" anchor="ctr"/>
          <a:lstStyle/>
          <a:p>
            <a:pPr indent="0" marL="0">
              <a:buNone/>
            </a:pPr>
            <a:r>
              <a:rPr lang="en-US" sz="950" dirty="0">
                <a:solidFill>
                  <a:srgbClr val="94A3B8"/>
                </a:solidFill>
              </a:rPr>
              <a:t>All 3 POCs combined. Sensor triggers fan + buzzer + SMS simultaneously. Full test with real gas introduction.</a:t>
            </a:r>
            <a:endParaRPr lang="en-US" sz="950" dirty="0"/>
          </a:p>
        </p:txBody>
      </p:sp>
      <p:sp>
        <p:nvSpPr>
          <p:cNvPr id="46" name="Shape 44"/>
          <p:cNvSpPr/>
          <p:nvPr/>
        </p:nvSpPr>
        <p:spPr>
          <a:xfrm>
            <a:off x="7772400" y="4187952"/>
            <a:ext cx="1097280" cy="256032"/>
          </a:xfrm>
          <a:prstGeom prst="rect">
            <a:avLst/>
          </a:prstGeom>
          <a:solidFill>
            <a:srgbClr val="0D9488"/>
          </a:solidFill>
          <a:ln/>
        </p:spPr>
      </p:sp>
      <p:sp>
        <p:nvSpPr>
          <p:cNvPr id="47" name="Text 45"/>
          <p:cNvSpPr/>
          <p:nvPr/>
        </p:nvSpPr>
        <p:spPr>
          <a:xfrm>
            <a:off x="7772400" y="4187952"/>
            <a:ext cx="1097280" cy="256032"/>
          </a:xfrm>
          <a:prstGeom prst="rect">
            <a:avLst/>
          </a:prstGeom>
          <a:noFill/>
          <a:ln/>
        </p:spPr>
        <p:txBody>
          <a:bodyPr wrap="square" lIns="0" tIns="0" rIns="0" bIns="0" rtlCol="0" anchor="ctr"/>
          <a:lstStyle/>
          <a:p>
            <a:pPr algn="ctr" indent="0" marL="0">
              <a:buNone/>
            </a:pPr>
            <a:r>
              <a:rPr lang="en-US" sz="900" b="1" dirty="0">
                <a:solidFill>
                  <a:srgbClr val="FFFFFF"/>
                </a:solidFill>
              </a:rPr>
              <a:t>Integration</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Gas Leak Detection — Proof of Concepts</dc:title>
  <dc:subject>PptxGenJS Presentation</dc:subject>
  <dc:creator>PptxGenJS</dc:creator>
  <cp:lastModifiedBy>PptxGenJS</cp:lastModifiedBy>
  <cp:revision>1</cp:revision>
  <dcterms:created xsi:type="dcterms:W3CDTF">2026-04-10T09:11:44Z</dcterms:created>
  <dcterms:modified xsi:type="dcterms:W3CDTF">2026-04-10T09:11:44Z</dcterms:modified>
</cp:coreProperties>
</file>